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docMetadata/LabelInfo.xml" ContentType="application/vnd.ms-office.classificationlabel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7" r:id="rId3"/>
    <p:sldId id="29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2" r:id="rId37"/>
    <p:sldId id="293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295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4" autoAdjust="0"/>
    <p:restoredTop sz="94660"/>
  </p:normalViewPr>
  <p:slideViewPr>
    <p:cSldViewPr snapToGrid="0">
      <p:cViewPr>
        <p:scale>
          <a:sx n="112" d="100"/>
          <a:sy n="112" d="100"/>
        </p:scale>
        <p:origin x="900" y="13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63745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4694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30637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2550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9247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4420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6585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5842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9925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0917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4863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24764AC-A6FB-64EC-2364-3F33471850EF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190500" y="6515100"/>
            <a:ext cx="10191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="" xmlns:p14="http://schemas.microsoft.com/office/powerpoint/2010/main" val="274542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192.168.56.101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7000"/>
                <a:shade val="100000"/>
                <a:satMod val="185000"/>
                <a:lumMod val="120000"/>
              </a:schemeClr>
            </a:gs>
            <a:gs pos="100000">
              <a:schemeClr val="bg1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="" xmlns:a16="http://schemas.microsoft.com/office/drawing/2014/main" id="{61C9F4F8-1CA1-4169-A513-5E15F4D91F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chemeClr val="tx1"/>
          </a:solidFill>
          <a:ln w="190500" cmpd="thinThick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OWASP_TOP_TEN_PROJECT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</p:spPr>
        <p:txBody>
          <a:bodyPr>
            <a:normAutofit/>
          </a:bodyPr>
          <a:lstStyle/>
          <a:p>
            <a:r>
              <a:rPr lang="en-US" dirty="0"/>
              <a:t>ONYEKWERE CHIDI ALWELL</a:t>
            </a:r>
          </a:p>
        </p:txBody>
      </p:sp>
    </p:spTree>
    <p:extLst>
      <p:ext uri="{BB962C8B-B14F-4D97-AF65-F5344CB8AC3E}">
        <p14:creationId xmlns="" xmlns:p14="http://schemas.microsoft.com/office/powerpoint/2010/main" val="2365564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Content Placeholder 78"/>
          <p:cNvPicPr>
            <a:picLocks/>
          </p:cNvPicPr>
          <p:nvPr/>
        </p:nvPicPr>
        <p:blipFill>
          <a:blip r:embed="rId2">
            <a:alphaModFix amt="40000"/>
          </a:blip>
          <a:srcRect r="11628" b="6415"/>
          <a:stretch>
            <a:fillRect/>
          </a:stretch>
        </p:blipFill>
        <p:spPr bwMode="auto">
          <a:xfrm>
            <a:off x="20" y="10"/>
            <a:ext cx="10774372" cy="64180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94164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8">
            <a:extLst>
              <a:ext uri="{FF2B5EF4-FFF2-40B4-BE49-F238E27FC236}">
                <a16:creationId xmlns="" xmlns:a16="http://schemas.microsoft.com/office/drawing/2014/main" id="{43E5D63F-A52C-1DEF-B5B5-EF0D7300DFD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l="9091" r="12307" b="9091"/>
          <a:stretch>
            <a:fillRect/>
          </a:stretch>
        </p:blipFill>
        <p:spPr bwMode="auto">
          <a:xfrm>
            <a:off x="20" y="10"/>
            <a:ext cx="10541459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E611BC-F9F3-15B7-1C3E-9CAA5C06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13" y="792159"/>
            <a:ext cx="2450592" cy="2286000"/>
          </a:xfrm>
          <a:prstGeom prst="ellipse">
            <a:avLst/>
          </a:prstGeom>
          <a:solidFill>
            <a:srgbClr val="000000">
              <a:alpha val="75000"/>
            </a:srgbClr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9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BROKEN ACCESS CONTROL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08BB1C48-A06D-4315-9809-A60A6F41CB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31417" y="627567"/>
            <a:ext cx="2615184" cy="2615184"/>
          </a:xfrm>
          <a:prstGeom prst="ellipse">
            <a:avLst/>
          </a:prstGeom>
          <a:noFill/>
          <a:ln w="317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3296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2335" b="7296"/>
          <a:stretch>
            <a:fillRect/>
          </a:stretch>
        </p:blipFill>
        <p:spPr bwMode="auto">
          <a:xfrm>
            <a:off x="20" y="10"/>
            <a:ext cx="10688108" cy="63576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57250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2122" b="7924"/>
          <a:stretch>
            <a:fillRect/>
          </a:stretch>
        </p:blipFill>
        <p:spPr bwMode="auto">
          <a:xfrm>
            <a:off x="20" y="10"/>
            <a:ext cx="10713988" cy="63145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3160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4750" b="7356"/>
          <a:stretch>
            <a:fillRect/>
          </a:stretch>
        </p:blipFill>
        <p:spPr bwMode="auto">
          <a:xfrm>
            <a:off x="1429927" y="804334"/>
            <a:ext cx="7955613" cy="48632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538617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2618" b="7673"/>
          <a:stretch>
            <a:fillRect/>
          </a:stretch>
        </p:blipFill>
        <p:spPr bwMode="auto">
          <a:xfrm>
            <a:off x="20" y="10"/>
            <a:ext cx="10653603" cy="63317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1316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203" b="7798"/>
          <a:stretch>
            <a:fillRect/>
          </a:stretch>
        </p:blipFill>
        <p:spPr bwMode="auto">
          <a:xfrm>
            <a:off x="20" y="10"/>
            <a:ext cx="10826131" cy="6323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1212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344" b="8554"/>
          <a:stretch>
            <a:fillRect/>
          </a:stretch>
        </p:blipFill>
        <p:spPr bwMode="auto">
          <a:xfrm>
            <a:off x="20" y="10"/>
            <a:ext cx="10808878" cy="62713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132752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0566" b="8302"/>
          <a:stretch>
            <a:fillRect/>
          </a:stretch>
        </p:blipFill>
        <p:spPr bwMode="auto">
          <a:xfrm>
            <a:off x="20" y="10"/>
            <a:ext cx="10903769" cy="62886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08182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9219" b="7917"/>
          <a:stretch>
            <a:fillRect/>
          </a:stretch>
        </p:blipFill>
        <p:spPr bwMode="auto">
          <a:xfrm>
            <a:off x="20" y="0"/>
            <a:ext cx="9848830" cy="6315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380614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796" b="7917"/>
          <a:stretch>
            <a:fillRect/>
          </a:stretch>
        </p:blipFill>
        <p:spPr bwMode="auto">
          <a:xfrm>
            <a:off x="20" y="0"/>
            <a:ext cx="10753705" cy="6315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0598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9453" b="4822"/>
          <a:stretch>
            <a:fillRect/>
          </a:stretch>
        </p:blipFill>
        <p:spPr bwMode="auto">
          <a:xfrm>
            <a:off x="20" y="0"/>
            <a:ext cx="9820255" cy="6391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763078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484" b="7361"/>
          <a:stretch>
            <a:fillRect/>
          </a:stretch>
        </p:blipFill>
        <p:spPr bwMode="auto">
          <a:xfrm>
            <a:off x="20" y="0"/>
            <a:ext cx="10791805" cy="6353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88303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641" b="7361"/>
          <a:stretch>
            <a:fillRect/>
          </a:stretch>
        </p:blipFill>
        <p:spPr bwMode="auto">
          <a:xfrm>
            <a:off x="20" y="0"/>
            <a:ext cx="10772755" cy="6353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65393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146" y="2286000"/>
            <a:ext cx="2286000" cy="2286000"/>
          </a:xfrm>
          <a:prstGeom prst="roundRect">
            <a:avLst>
              <a:gd name="adj" fmla="val 14141"/>
            </a:avLst>
          </a:prstGeom>
          <a:solidFill>
            <a:schemeClr val="accent2"/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9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Automated injection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="" xmlns:a16="http://schemas.microsoft.com/office/drawing/2014/main" id="{D158E3C0-D8EB-4603-A5C9-9E154E53CE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26554" y="2121408"/>
            <a:ext cx="2615184" cy="2615184"/>
          </a:xfrm>
          <a:prstGeom prst="roundRec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6AAA5C1-0067-4647-9D2C-27F6416796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878017" y="640080"/>
            <a:ext cx="766267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EB47799-4CF0-4036-9D06-22F60774EA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047181" y="802767"/>
            <a:ext cx="732434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6834" t="1" r="13070" b="7499"/>
          <a:stretch>
            <a:fillRect/>
          </a:stretch>
        </p:blipFill>
        <p:spPr bwMode="auto">
          <a:xfrm>
            <a:off x="4361407" y="1122807"/>
            <a:ext cx="6119688" cy="39754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62840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20937" b="8333"/>
          <a:stretch>
            <a:fillRect/>
          </a:stretch>
        </p:blipFill>
        <p:spPr bwMode="auto">
          <a:xfrm>
            <a:off x="20" y="0"/>
            <a:ext cx="9639280" cy="6286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214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038" y="137796"/>
            <a:ext cx="8911687" cy="12808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 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Predictable flaws(</a:t>
            </a:r>
            <a:r>
              <a:rPr lang="en-US" sz="2800" u="sng" dirty="0">
                <a:solidFill>
                  <a:schemeClr val="tx1"/>
                </a:solidFill>
                <a:hlinkClick r:id="rId2"/>
              </a:rPr>
              <a:t>http://192.168.56.101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dvwa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3"/>
          <a:srcRect t="6356" r="10887" b="7391"/>
          <a:stretch>
            <a:fillRect/>
          </a:stretch>
        </p:blipFill>
        <p:spPr bwMode="auto">
          <a:xfrm>
            <a:off x="1381852" y="1515733"/>
            <a:ext cx="8993873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93096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9843" b="8333"/>
          <a:stretch>
            <a:fillRect/>
          </a:stretch>
        </p:blipFill>
        <p:spPr bwMode="auto">
          <a:xfrm>
            <a:off x="20" y="0"/>
            <a:ext cx="10991830" cy="6286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020922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20896" b="8931"/>
          <a:stretch>
            <a:fillRect/>
          </a:stretch>
        </p:blipFill>
        <p:spPr bwMode="auto">
          <a:xfrm>
            <a:off x="21" y="0"/>
            <a:ext cx="9644312" cy="6245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331306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t="-8302" r="20684" b="8302"/>
          <a:stretch>
            <a:fillRect/>
          </a:stretch>
        </p:blipFill>
        <p:spPr bwMode="auto">
          <a:xfrm>
            <a:off x="0" y="-569343"/>
            <a:ext cx="9670191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20215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t="-8679" r="20401" b="8679"/>
          <a:stretch>
            <a:fillRect/>
          </a:stretch>
        </p:blipFill>
        <p:spPr bwMode="auto">
          <a:xfrm>
            <a:off x="0" y="-595222"/>
            <a:ext cx="970469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591108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867684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1993" y="438480"/>
            <a:ext cx="5856258" cy="900608"/>
          </a:xfrm>
        </p:spPr>
        <p:txBody>
          <a:bodyPr>
            <a:normAutofit fontScale="90000"/>
          </a:bodyPr>
          <a:lstStyle/>
          <a:p>
            <a:r>
              <a:rPr lang="en-US"/>
              <a:t>Credentials leak (wireshark)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t="6081" r="9599" b="6718"/>
          <a:stretch>
            <a:fillRect/>
          </a:stretch>
        </p:blipFill>
        <p:spPr bwMode="auto">
          <a:xfrm>
            <a:off x="1710581" y="1854679"/>
            <a:ext cx="8080400" cy="4382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03339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0141" b="6038"/>
          <a:stretch>
            <a:fillRect/>
          </a:stretch>
        </p:blipFill>
        <p:spPr bwMode="auto">
          <a:xfrm>
            <a:off x="20" y="10"/>
            <a:ext cx="10955527" cy="6443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686643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0495" b="6541"/>
          <a:stretch>
            <a:fillRect/>
          </a:stretch>
        </p:blipFill>
        <p:spPr bwMode="auto">
          <a:xfrm>
            <a:off x="20" y="10"/>
            <a:ext cx="10912395" cy="64094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490864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0071" b="7798"/>
          <a:stretch>
            <a:fillRect/>
          </a:stretch>
        </p:blipFill>
        <p:spPr bwMode="auto">
          <a:xfrm>
            <a:off x="20" y="10"/>
            <a:ext cx="10964154" cy="6323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45502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412739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8311" y="412242"/>
            <a:ext cx="6208014" cy="954702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Port &amp; service enumeration (</a:t>
            </a:r>
            <a:r>
              <a:rPr lang="en-US" sz="2400" dirty="0" err="1">
                <a:solidFill>
                  <a:schemeClr val="tx1"/>
                </a:solidFill>
              </a:rPr>
              <a:t>nmap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en-US" sz="2400" dirty="0" err="1">
                <a:solidFill>
                  <a:schemeClr val="tx1"/>
                </a:solidFill>
              </a:rPr>
              <a:t>Nmap</a:t>
            </a:r>
            <a:r>
              <a:rPr lang="en-US" sz="2400" dirty="0">
                <a:solidFill>
                  <a:schemeClr val="tx1"/>
                </a:solidFill>
              </a:rPr>
              <a:t> –</a:t>
            </a:r>
            <a:r>
              <a:rPr lang="en-US" sz="2400" dirty="0" err="1">
                <a:solidFill>
                  <a:schemeClr val="tx1"/>
                </a:solidFill>
              </a:rPr>
              <a:t>sS</a:t>
            </a:r>
            <a:r>
              <a:rPr lang="en-US" sz="2400" dirty="0">
                <a:solidFill>
                  <a:schemeClr val="tx1"/>
                </a:solidFill>
              </a:rPr>
              <a:t> &lt;target&gt;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531" b="6927"/>
          <a:stretch>
            <a:fillRect/>
          </a:stretch>
        </p:blipFill>
        <p:spPr bwMode="auto">
          <a:xfrm>
            <a:off x="1540084" y="1503321"/>
            <a:ext cx="8061116" cy="4768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313082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24" y="459867"/>
            <a:ext cx="6219825" cy="956519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No.5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 err="1">
                <a:solidFill>
                  <a:schemeClr val="tx1"/>
                </a:solidFill>
              </a:rPr>
              <a:t>Nmap</a:t>
            </a:r>
            <a:r>
              <a:rPr lang="en-US" sz="2400" dirty="0">
                <a:solidFill>
                  <a:schemeClr val="tx1"/>
                </a:solidFill>
              </a:rPr>
              <a:t> –</a:t>
            </a:r>
            <a:r>
              <a:rPr lang="en-US" sz="2400" dirty="0" err="1">
                <a:solidFill>
                  <a:schemeClr val="tx1"/>
                </a:solidFill>
              </a:rPr>
              <a:t>sS</a:t>
            </a:r>
            <a:r>
              <a:rPr lang="en-US" sz="2400" dirty="0">
                <a:solidFill>
                  <a:schemeClr val="tx1"/>
                </a:solidFill>
              </a:rPr>
              <a:t> &lt;target&gt; -p21, 22, 58-100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793" b="7956"/>
          <a:stretch>
            <a:fillRect/>
          </a:stretch>
        </p:blipFill>
        <p:spPr bwMode="auto">
          <a:xfrm>
            <a:off x="2289593" y="1660803"/>
            <a:ext cx="7432377" cy="4360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94916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205" y="402717"/>
            <a:ext cx="7379589" cy="815546"/>
          </a:xfrm>
        </p:spPr>
        <p:txBody>
          <a:bodyPr>
            <a:normAutofit/>
          </a:bodyPr>
          <a:lstStyle/>
          <a:p>
            <a:r>
              <a:rPr lang="en-US" dirty="0" err="1"/>
              <a:t>Nmap</a:t>
            </a:r>
            <a:r>
              <a:rPr lang="en-US" dirty="0"/>
              <a:t> –</a:t>
            </a:r>
            <a:r>
              <a:rPr lang="en-US" dirty="0" err="1"/>
              <a:t>sS</a:t>
            </a:r>
            <a:r>
              <a:rPr lang="en-US" dirty="0"/>
              <a:t> 192.168.56.101 –top-port 5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834" b="7286"/>
          <a:stretch>
            <a:fillRect/>
          </a:stretch>
        </p:blipFill>
        <p:spPr bwMode="auto">
          <a:xfrm>
            <a:off x="1679993" y="1327023"/>
            <a:ext cx="8041978" cy="475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376109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818" y="345567"/>
            <a:ext cx="9008364" cy="6736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Nmap</a:t>
            </a:r>
            <a:r>
              <a:rPr lang="en-US" dirty="0"/>
              <a:t> </a:t>
            </a:r>
            <a:r>
              <a:rPr lang="en-US" dirty="0" err="1"/>
              <a:t>sS</a:t>
            </a:r>
            <a:r>
              <a:rPr lang="en-US" dirty="0"/>
              <a:t> &lt;target&gt; -F  (scan for 100 ports)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598" b="7829"/>
          <a:stretch>
            <a:fillRect/>
          </a:stretch>
        </p:blipFill>
        <p:spPr bwMode="auto">
          <a:xfrm>
            <a:off x="1296298" y="1210654"/>
            <a:ext cx="8486057" cy="497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681300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230" y="259842"/>
            <a:ext cx="9265539" cy="759333"/>
          </a:xfrm>
        </p:spPr>
        <p:txBody>
          <a:bodyPr>
            <a:normAutofit fontScale="90000"/>
          </a:bodyPr>
          <a:lstStyle/>
          <a:p>
            <a:r>
              <a:rPr lang="en-US" sz="2400" dirty="0" err="1"/>
              <a:t>Nmap</a:t>
            </a:r>
            <a:r>
              <a:rPr lang="en-US" sz="2400" dirty="0"/>
              <a:t> </a:t>
            </a:r>
            <a:r>
              <a:rPr lang="en-US" sz="2400" dirty="0" err="1"/>
              <a:t>sS</a:t>
            </a:r>
            <a:r>
              <a:rPr lang="en-US" sz="2400" dirty="0"/>
              <a:t> &lt;target&gt; - P1-65535  (scan the entire range of ports)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823" b="7870"/>
          <a:stretch>
            <a:fillRect/>
          </a:stretch>
        </p:blipFill>
        <p:spPr bwMode="auto">
          <a:xfrm>
            <a:off x="1234069" y="1131154"/>
            <a:ext cx="8574166" cy="5036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17855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786" y="183642"/>
            <a:ext cx="9960864" cy="759333"/>
          </a:xfrm>
        </p:spPr>
        <p:txBody>
          <a:bodyPr>
            <a:normAutofit fontScale="90000"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Nmap</a:t>
            </a:r>
            <a:r>
              <a:rPr lang="en-US" sz="2400" dirty="0">
                <a:solidFill>
                  <a:schemeClr val="tx1"/>
                </a:solidFill>
              </a:rPr>
              <a:t>  -</a:t>
            </a:r>
            <a:r>
              <a:rPr lang="en-US" sz="2400" dirty="0" err="1">
                <a:solidFill>
                  <a:schemeClr val="tx1"/>
                </a:solidFill>
              </a:rPr>
              <a:t>sS</a:t>
            </a:r>
            <a:r>
              <a:rPr lang="en-US" sz="2400" dirty="0">
                <a:solidFill>
                  <a:schemeClr val="tx1"/>
                </a:solidFill>
              </a:rPr>
              <a:t> -</a:t>
            </a:r>
            <a:r>
              <a:rPr lang="en-US" sz="2400" dirty="0" err="1">
                <a:solidFill>
                  <a:schemeClr val="tx1"/>
                </a:solidFill>
              </a:rPr>
              <a:t>sU</a:t>
            </a:r>
            <a:r>
              <a:rPr lang="en-US" sz="2400" dirty="0">
                <a:solidFill>
                  <a:schemeClr val="tx1"/>
                </a:solidFill>
              </a:rPr>
              <a:t> &lt;target&gt; - PT:80,443,U:53,140-150  (scan for </a:t>
            </a:r>
            <a:r>
              <a:rPr lang="en-US" sz="2400" dirty="0" err="1">
                <a:solidFill>
                  <a:schemeClr val="tx1"/>
                </a:solidFill>
              </a:rPr>
              <a:t>udp</a:t>
            </a:r>
            <a:r>
              <a:rPr lang="en-US" sz="2400" dirty="0">
                <a:solidFill>
                  <a:schemeClr val="tx1"/>
                </a:solidFill>
              </a:rPr>
              <a:t> ports)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1785" b="7495"/>
          <a:stretch>
            <a:fillRect/>
          </a:stretch>
        </p:blipFill>
        <p:spPr bwMode="auto">
          <a:xfrm>
            <a:off x="1521850" y="1066885"/>
            <a:ext cx="8622814" cy="5083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96133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5" y="297181"/>
            <a:ext cx="7760589" cy="62992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6: vulnerabilities and outdated components(</a:t>
            </a:r>
            <a:r>
              <a:rPr lang="en-US" sz="2000" b="1" dirty="0" err="1">
                <a:solidFill>
                  <a:schemeClr val="tx1"/>
                </a:solidFill>
              </a:rPr>
              <a:t>npm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333" b="4371"/>
          <a:stretch>
            <a:fillRect/>
          </a:stretch>
        </p:blipFill>
        <p:spPr bwMode="auto">
          <a:xfrm>
            <a:off x="483096" y="1143000"/>
            <a:ext cx="11188444" cy="4860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574578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7399" y="267419"/>
            <a:ext cx="6429785" cy="88852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b="1" dirty="0"/>
              <a:t>DETECTS KNOWN SERVER VULNERABILITIES (</a:t>
            </a:r>
            <a:r>
              <a:rPr lang="en-US" b="1" dirty="0" err="1"/>
              <a:t>nikto</a:t>
            </a:r>
            <a:r>
              <a:rPr lang="en-US" b="1" dirty="0"/>
              <a:t>)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20653" b="8336"/>
          <a:stretch>
            <a:fillRect/>
          </a:stretch>
        </p:blipFill>
        <p:spPr bwMode="auto">
          <a:xfrm>
            <a:off x="1298160" y="1312469"/>
            <a:ext cx="7449024" cy="4838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889356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19906" b="10063"/>
          <a:stretch>
            <a:fillRect/>
          </a:stretch>
        </p:blipFill>
        <p:spPr bwMode="auto">
          <a:xfrm>
            <a:off x="20" y="10"/>
            <a:ext cx="9765082" cy="61678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147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zap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1458" t="9746" r="-70" b="4872"/>
          <a:stretch>
            <a:fillRect/>
          </a:stretch>
        </p:blipFill>
        <p:spPr bwMode="auto">
          <a:xfrm>
            <a:off x="3842046" y="2944325"/>
            <a:ext cx="4507907" cy="2750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Paste the URL, set to Chrome Headless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/>
          <p:nvPr/>
        </p:nvPicPr>
        <p:blipFill>
          <a:blip r:embed="rId2"/>
          <a:srcRect r="-23" b="7415"/>
          <a:stretch>
            <a:fillRect/>
          </a:stretch>
        </p:blipFill>
        <p:spPr bwMode="auto">
          <a:xfrm>
            <a:off x="3326125" y="2780193"/>
            <a:ext cx="5732254" cy="298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the use </a:t>
            </a:r>
            <a:r>
              <a:rPr lang="en-US" dirty="0" err="1" smtClean="0"/>
              <a:t>ajax</a:t>
            </a:r>
            <a:r>
              <a:rPr lang="en-US" dirty="0" smtClean="0"/>
              <a:t> spider as Always.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rcRect r="-23" b="8051"/>
          <a:stretch>
            <a:fillRect/>
          </a:stretch>
        </p:blipFill>
        <p:spPr bwMode="auto">
          <a:xfrm>
            <a:off x="3095106" y="2638425"/>
            <a:ext cx="6001788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7627"/>
          <a:stretch>
            <a:fillRect/>
          </a:stretch>
        </p:blipFill>
        <p:spPr bwMode="auto">
          <a:xfrm>
            <a:off x="3108881" y="2638425"/>
            <a:ext cx="5974239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6992"/>
          <a:stretch>
            <a:fillRect/>
          </a:stretch>
        </p:blipFill>
        <p:spPr bwMode="auto">
          <a:xfrm>
            <a:off x="3129275" y="2638425"/>
            <a:ext cx="5933451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</a:t>
            </a:r>
            <a:r>
              <a:rPr lang="en-US" dirty="0" err="1" smtClean="0"/>
              <a:t>Ascan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8051"/>
          <a:stretch>
            <a:fillRect/>
          </a:stretch>
        </p:blipFill>
        <p:spPr bwMode="auto">
          <a:xfrm>
            <a:off x="3095106" y="2638425"/>
            <a:ext cx="6001788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Spider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6992"/>
          <a:stretch>
            <a:fillRect/>
          </a:stretch>
        </p:blipFill>
        <p:spPr bwMode="auto">
          <a:xfrm>
            <a:off x="3129275" y="2638425"/>
            <a:ext cx="5933451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Spider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7415"/>
          <a:stretch>
            <a:fillRect/>
          </a:stretch>
        </p:blipFill>
        <p:spPr bwMode="auto">
          <a:xfrm>
            <a:off x="3115721" y="2638425"/>
            <a:ext cx="5960559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Report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-23" b="7203"/>
          <a:stretch>
            <a:fillRect/>
          </a:stretch>
        </p:blipFill>
        <p:spPr bwMode="auto">
          <a:xfrm>
            <a:off x="3122529" y="2638425"/>
            <a:ext cx="5946942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r="647" b="7627"/>
          <a:stretch>
            <a:fillRect/>
          </a:stretch>
        </p:blipFill>
        <p:spPr bwMode="auto">
          <a:xfrm>
            <a:off x="3128890" y="2638425"/>
            <a:ext cx="5934221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Owasp_zap</a:t>
            </a:r>
            <a:r>
              <a:rPr lang="en-US" dirty="0" smtClean="0"/>
              <a:t> report</a:t>
            </a:r>
            <a:endParaRPr lang="en-GB" dirty="0"/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graphicFrame>
        <p:nvGraphicFramePr>
          <p:cNvPr id="57345" name="Object 1"/>
          <p:cNvGraphicFramePr>
            <a:graphicFrameLocks noChangeAspect="1"/>
          </p:cNvGraphicFramePr>
          <p:nvPr/>
        </p:nvGraphicFramePr>
        <p:xfrm>
          <a:off x="3078158" y="3226524"/>
          <a:ext cx="6497642" cy="1073005"/>
        </p:xfrm>
        <a:graphic>
          <a:graphicData uri="http://schemas.openxmlformats.org/presentationml/2006/ole">
            <p:oleObj spid="_x0000_s57345" name="Packager Shell Object" showAsIcon="1" r:id="rId3" imgW="3114676" imgH="514178" progId="Package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Manual </a:t>
            </a:r>
            <a:r>
              <a:rPr lang="en-US" dirty="0" err="1" smtClean="0"/>
              <a:t>zap_report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2503540" y="3386668"/>
          <a:ext cx="6829694" cy="1151466"/>
        </p:xfrm>
        <a:graphic>
          <a:graphicData uri="http://schemas.openxmlformats.org/presentationml/2006/ole">
            <p:oleObj spid="_x0000_s65538" name="Packager Shell Object" showAsIcon="1" r:id="rId3" imgW="1156320" imgH="437760" progId="Package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B9F8E5-0909-3B18-BF4D-CE2B03C97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906437"/>
            <a:ext cx="8991600" cy="2656936"/>
          </a:xfrm>
          <a:noFill/>
          <a:ln>
            <a:solidFill>
              <a:schemeClr val="tx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6000" b="1" kern="1200" cap="all" spc="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3719960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docMetadata/LabelInfo.xml><?xml version="1.0" encoding="utf-8"?>
<clbl:labelList xmlns:clbl="http://schemas.microsoft.com/office/2020/mipLabelMetadata">
  <clbl:label id="{fc24caf1-31f7-40c1-bde0-ca915f0156e3}" enabled="1" method="Standard" siteId="{088e9b00-ffd0-458e-bfa1-acf4c596d3c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111</TotalTime>
  <Words>123</Words>
  <Application>Microsoft Office PowerPoint</Application>
  <PresentationFormat>Custom</PresentationFormat>
  <Paragraphs>24</Paragraphs>
  <Slides>50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2" baseType="lpstr">
      <vt:lpstr>Parcel</vt:lpstr>
      <vt:lpstr>Package</vt:lpstr>
      <vt:lpstr>OWASP_TOP_TEN_PROJECT</vt:lpstr>
      <vt:lpstr>Slide 2</vt:lpstr>
      <vt:lpstr>BROKEN ACCESS CONTROL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Automated injection</vt:lpstr>
      <vt:lpstr>Slide 17</vt:lpstr>
      <vt:lpstr>  Predictable flaws(http://192.168.56.101 dvwa) </vt:lpstr>
      <vt:lpstr>Slide 19</vt:lpstr>
      <vt:lpstr>Slide 20</vt:lpstr>
      <vt:lpstr>Slide 21</vt:lpstr>
      <vt:lpstr>Slide 22</vt:lpstr>
      <vt:lpstr>Slide 23</vt:lpstr>
      <vt:lpstr>Credentials leak (wireshark)</vt:lpstr>
      <vt:lpstr>Slide 25</vt:lpstr>
      <vt:lpstr>Slide 26</vt:lpstr>
      <vt:lpstr>Slide 27</vt:lpstr>
      <vt:lpstr>Slide 28</vt:lpstr>
      <vt:lpstr>Port &amp; service enumeration (nmap) Nmap –sS &lt;target&gt;</vt:lpstr>
      <vt:lpstr>No.5 Nmap –sS &lt;target&gt; -p21, 22, 58-100</vt:lpstr>
      <vt:lpstr>Nmap –sS 192.168.56.101 –top-port 5</vt:lpstr>
      <vt:lpstr>Nmap sS &lt;target&gt; -F  (scan for 100 ports)</vt:lpstr>
      <vt:lpstr>Nmap sS &lt;target&gt; - P1-65535  (scan the entire range of ports)</vt:lpstr>
      <vt:lpstr>Nmap  -sS -sU &lt;target&gt; - PT:80,443,U:53,140-150  (scan for udp ports)</vt:lpstr>
      <vt:lpstr>6: vulnerabilities and outdated components(npm)</vt:lpstr>
      <vt:lpstr> DETECTS KNOWN SERVER VULNERABILITIES (nikto)</vt:lpstr>
      <vt:lpstr>Slide 37</vt:lpstr>
      <vt:lpstr>zap</vt:lpstr>
      <vt:lpstr>Paste the URL, set to Chrome Headless </vt:lpstr>
      <vt:lpstr>Set the use ajax spider as Always. </vt:lpstr>
      <vt:lpstr>Slide 41</vt:lpstr>
      <vt:lpstr>Slide 42</vt:lpstr>
      <vt:lpstr>Active Ascan </vt:lpstr>
      <vt:lpstr>AJAX Spider </vt:lpstr>
      <vt:lpstr>Spider </vt:lpstr>
      <vt:lpstr>Report </vt:lpstr>
      <vt:lpstr>Slide 47</vt:lpstr>
      <vt:lpstr>Owasp_zap report</vt:lpstr>
      <vt:lpstr>Manual zap_report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CHIDI</cp:lastModifiedBy>
  <cp:revision>10</cp:revision>
  <dcterms:created xsi:type="dcterms:W3CDTF">2025-09-21T09:21:56Z</dcterms:created>
  <dcterms:modified xsi:type="dcterms:W3CDTF">2025-09-24T19:40:53Z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Parcel:8</vt:lpwstr>
  </property>
  <property fmtid="{D5CDD505-2E9C-101B-9397-08002B2CF9AE}" pid="3" name="ClassificationContentMarkingFooterText">
    <vt:lpwstr>Sensitivity: Internal</vt:lpwstr>
  </property>
</Properties>
</file>