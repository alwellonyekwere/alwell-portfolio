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Default Extension="svg" ContentType="image/svg+xml"/>
  <Override PartName="/docMetadata/LabelInfo.xml" ContentType="application/vnd.ms-office.classificationlabel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6"/>
  </p:notesMasterIdLst>
  <p:sldIdLst>
    <p:sldId id="256" r:id="rId2"/>
    <p:sldId id="331" r:id="rId3"/>
    <p:sldId id="333" r:id="rId4"/>
    <p:sldId id="332" r:id="rId5"/>
    <p:sldId id="257" r:id="rId6"/>
    <p:sldId id="319" r:id="rId7"/>
    <p:sldId id="320" r:id="rId8"/>
    <p:sldId id="321" r:id="rId9"/>
    <p:sldId id="322" r:id="rId10"/>
    <p:sldId id="323" r:id="rId11"/>
    <p:sldId id="324" r:id="rId12"/>
    <p:sldId id="325" r:id="rId13"/>
    <p:sldId id="326" r:id="rId14"/>
    <p:sldId id="327" r:id="rId15"/>
    <p:sldId id="328" r:id="rId16"/>
    <p:sldId id="329" r:id="rId17"/>
    <p:sldId id="330" r:id="rId18"/>
    <p:sldId id="298" r:id="rId19"/>
    <p:sldId id="299" r:id="rId20"/>
    <p:sldId id="301" r:id="rId21"/>
    <p:sldId id="264" r:id="rId22"/>
    <p:sldId id="266" r:id="rId23"/>
    <p:sldId id="268" r:id="rId24"/>
    <p:sldId id="270" r:id="rId25"/>
    <p:sldId id="271" r:id="rId26"/>
    <p:sldId id="272" r:id="rId27"/>
    <p:sldId id="273" r:id="rId28"/>
    <p:sldId id="274" r:id="rId29"/>
    <p:sldId id="277" r:id="rId30"/>
    <p:sldId id="275" r:id="rId31"/>
    <p:sldId id="276" r:id="rId32"/>
    <p:sldId id="278" r:id="rId33"/>
    <p:sldId id="279" r:id="rId34"/>
    <p:sldId id="280" r:id="rId35"/>
    <p:sldId id="303" r:id="rId36"/>
    <p:sldId id="304" r:id="rId37"/>
    <p:sldId id="305" r:id="rId38"/>
    <p:sldId id="306" r:id="rId39"/>
    <p:sldId id="307" r:id="rId40"/>
    <p:sldId id="308" r:id="rId41"/>
    <p:sldId id="309" r:id="rId42"/>
    <p:sldId id="310" r:id="rId43"/>
    <p:sldId id="311" r:id="rId44"/>
    <p:sldId id="314" r:id="rId45"/>
    <p:sldId id="313" r:id="rId46"/>
    <p:sldId id="315" r:id="rId47"/>
    <p:sldId id="316" r:id="rId48"/>
    <p:sldId id="317" r:id="rId49"/>
    <p:sldId id="318" r:id="rId50"/>
    <p:sldId id="282" r:id="rId51"/>
    <p:sldId id="284" r:id="rId52"/>
    <p:sldId id="285" r:id="rId53"/>
    <p:sldId id="286" r:id="rId54"/>
    <p:sldId id="287" r:id="rId55"/>
    <p:sldId id="288" r:id="rId56"/>
    <p:sldId id="289" r:id="rId57"/>
    <p:sldId id="290" r:id="rId58"/>
    <p:sldId id="291" r:id="rId59"/>
    <p:sldId id="295" r:id="rId60"/>
    <p:sldId id="302" r:id="rId61"/>
    <p:sldId id="292" r:id="rId62"/>
    <p:sldId id="293" r:id="rId63"/>
    <p:sldId id="294" r:id="rId64"/>
    <p:sldId id="296"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p:restoredLeft sz="70904" autoAdjust="0"/>
    <p:restoredTop sz="94660"/>
  </p:normalViewPr>
  <p:slideViewPr>
    <p:cSldViewPr>
      <p:cViewPr>
        <p:scale>
          <a:sx n="75" d="100"/>
          <a:sy n="75" d="100"/>
        </p:scale>
        <p:origin x="-1872" y="4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4A092B-4729-4576-BA57-5DE65044C45F}" type="datetimeFigureOut">
              <a:rPr lang="en-US" smtClean="0"/>
              <a:pPr/>
              <a:t>8/13/2025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753133-E423-4152-BCC2-BDF6901BF718}"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endParaRPr lang="en-GB" dirty="0"/>
          </a:p>
        </p:txBody>
      </p:sp>
      <p:sp>
        <p:nvSpPr>
          <p:cNvPr id="4" name="Slide Number Placeholder 3"/>
          <p:cNvSpPr>
            <a:spLocks noGrp="1"/>
          </p:cNvSpPr>
          <p:nvPr>
            <p:ph type="sldNum" sz="quarter" idx="10"/>
          </p:nvPr>
        </p:nvSpPr>
        <p:spPr/>
        <p:txBody>
          <a:bodyPr/>
          <a:lstStyle/>
          <a:p>
            <a:fld id="{C7753133-E423-4152-BCC2-BDF6901BF718}" type="slidenum">
              <a:rPr lang="en-GB" smtClean="0"/>
              <a:pPr/>
              <a:t>47</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A845522-BC16-4896-B1FA-796BEA22A615}" type="datetimeFigureOut">
              <a:rPr lang="en-US" smtClean="0"/>
              <a:pPr/>
              <a:t>8/13/2025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845522-BC16-4896-B1FA-796BEA22A615}" type="datetimeFigureOut">
              <a:rPr lang="en-US" smtClean="0"/>
              <a:pPr/>
              <a:t>8/13/2025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845522-BC16-4896-B1FA-796BEA22A615}" type="datetimeFigureOut">
              <a:rPr lang="en-US" smtClean="0"/>
              <a:pPr/>
              <a:t>8/13/2025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A845522-BC16-4896-B1FA-796BEA22A615}" type="datetimeFigureOut">
              <a:rPr lang="en-US" smtClean="0"/>
              <a:pPr/>
              <a:t>8/13/2025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A845522-BC16-4896-B1FA-796BEA22A615}" type="datetimeFigureOut">
              <a:rPr lang="en-US" smtClean="0"/>
              <a:pPr/>
              <a:t>8/13/2025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A845522-BC16-4896-B1FA-796BEA22A615}" type="datetimeFigureOut">
              <a:rPr lang="en-US" smtClean="0"/>
              <a:pPr/>
              <a:t>8/13/2025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845522-BC16-4896-B1FA-796BEA22A615}" type="datetimeFigureOut">
              <a:rPr lang="en-US" smtClean="0"/>
              <a:pPr/>
              <a:t>8/13/2025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845522-BC16-4896-B1FA-796BEA22A615}" type="datetimeFigureOut">
              <a:rPr lang="en-US" smtClean="0"/>
              <a:pPr/>
              <a:t>8/13/2025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845522-BC16-4896-B1FA-796BEA22A615}" type="datetimeFigureOut">
              <a:rPr lang="en-US" smtClean="0"/>
              <a:pPr/>
              <a:t>8/13/2025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845522-BC16-4896-B1FA-796BEA22A615}" type="datetimeFigureOut">
              <a:rPr lang="en-US" smtClean="0"/>
              <a:pPr/>
              <a:t>8/13/2025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A845522-BC16-4896-B1FA-796BEA22A615}" type="datetimeFigureOut">
              <a:rPr lang="en-US" smtClean="0"/>
              <a:pPr/>
              <a:t>8/13/2025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3FD4D4A-B953-4812-8951-0877B88335AA}"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845522-BC16-4896-B1FA-796BEA22A615}" type="datetimeFigureOut">
              <a:rPr lang="en-US" smtClean="0"/>
              <a:pPr/>
              <a:t>8/13/2025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FD4D4A-B953-4812-8951-0877B88335AA}"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A3363022-C969-41E9-8EB2-E4C94908C1F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8D1AD6B3-BE88-4CEB-BA17-790657CC472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0" y="4267832"/>
            <a:ext cx="4316648" cy="1681448"/>
          </a:xfrm>
        </p:spPr>
        <p:txBody>
          <a:bodyPr anchor="t">
            <a:noAutofit/>
          </a:bodyPr>
          <a:lstStyle/>
          <a:p>
            <a:pPr algn="l"/>
            <a:r>
              <a:rPr lang="en-US" dirty="0">
                <a:solidFill>
                  <a:schemeClr val="tx2"/>
                </a:solidFill>
                <a:effectLst/>
                <a:latin typeface="Bauhaus 93" pitchFamily="82" charset="0"/>
              </a:rPr>
              <a:t>CYBER SECURITY PROJECT</a:t>
            </a:r>
            <a:endParaRPr lang="en-GB" dirty="0">
              <a:solidFill>
                <a:schemeClr val="tx2"/>
              </a:solidFill>
              <a:latin typeface="Bauhaus 93" pitchFamily="82" charset="0"/>
            </a:endParaRPr>
          </a:p>
        </p:txBody>
      </p:sp>
      <p:sp>
        <p:nvSpPr>
          <p:cNvPr id="3" name="Subtitle 2"/>
          <p:cNvSpPr>
            <a:spLocks noGrp="1"/>
          </p:cNvSpPr>
          <p:nvPr>
            <p:ph type="subTitle" idx="1"/>
          </p:nvPr>
        </p:nvSpPr>
        <p:spPr>
          <a:xfrm>
            <a:off x="4674314" y="3443439"/>
            <a:ext cx="3604268" cy="838831"/>
          </a:xfrm>
        </p:spPr>
        <p:txBody>
          <a:bodyPr anchor="b">
            <a:normAutofit/>
          </a:bodyPr>
          <a:lstStyle/>
          <a:p>
            <a:pPr algn="l"/>
            <a:r>
              <a:rPr lang="en-US" sz="1700" dirty="0">
                <a:solidFill>
                  <a:schemeClr val="tx2"/>
                </a:solidFill>
              </a:rPr>
              <a:t>Presented by Onyekwere Chidi Alwell</a:t>
            </a:r>
            <a:endParaRPr lang="en-GB" sz="1700" dirty="0">
              <a:solidFill>
                <a:schemeClr val="tx2"/>
              </a:solidFill>
            </a:endParaRPr>
          </a:p>
        </p:txBody>
      </p:sp>
      <p:pic>
        <p:nvPicPr>
          <p:cNvPr id="22" name="Graphic 21" descr="Lock">
            <a:extLst>
              <a:ext uri="{FF2B5EF4-FFF2-40B4-BE49-F238E27FC236}">
                <a16:creationId xmlns="" xmlns:a16="http://schemas.microsoft.com/office/drawing/2014/main" id="{E7F3D72C-BB1F-6450-E7E6-C3AC20515141}"/>
              </a:ext>
            </a:extLst>
          </p:cNvPr>
          <p:cNvPicPr>
            <a:picLocks noChangeAspect="1"/>
          </p:cNvPicPr>
          <p:nvPr/>
        </p:nvPicPr>
        <p:blipFill>
          <a:blip r:embed="rId2">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 xmlns:a16="http://schemas.microsoft.com/office/drawing/2014/main" id="{89D1390B-7E13-4B4F-9CB2-391063412E54}"/>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 xmlns:a16="http://schemas.microsoft.com/office/drawing/2014/main" id="{9E720206-AA49-4786-A932-A2650DE0918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 xmlns:a16="http://schemas.microsoft.com/office/drawing/2014/main" id="{C72F6EE6-EDE9-45A5-8F6D-02B9B7CB2C2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 xmlns:a16="http://schemas.microsoft.com/office/drawing/2014/main" id="{C093DC50-3BD7-46B1-A300-CD207E152FF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22"/>
                                        </p:tgtEl>
                                        <p:attrNameLst>
                                          <p:attrName>style.visibility</p:attrName>
                                        </p:attrNameLst>
                                      </p:cBhvr>
                                      <p:to>
                                        <p:strVal val="visible"/>
                                      </p:to>
                                    </p:set>
                                    <p:animEffect transition="in" filter="fade">
                                      <p:cBhvr>
                                        <p:cTn id="13" dur="7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GB" dirty="0" smtClean="0"/>
              <a:t>Table of Contents</a:t>
            </a:r>
            <a:endParaRPr lang="en-GB" dirty="0"/>
          </a:p>
        </p:txBody>
      </p:sp>
      <p:sp>
        <p:nvSpPr>
          <p:cNvPr id="3" name="Content Placeholder 2"/>
          <p:cNvSpPr>
            <a:spLocks noGrp="1"/>
          </p:cNvSpPr>
          <p:nvPr>
            <p:ph idx="1"/>
          </p:nvPr>
        </p:nvSpPr>
        <p:spPr/>
        <p:txBody>
          <a:bodyPr>
            <a:normAutofit lnSpcReduction="10000"/>
          </a:bodyPr>
          <a:lstStyle/>
          <a:p>
            <a:endParaRPr lang="en-US" sz="800" dirty="0" smtClean="0">
              <a:solidFill>
                <a:srgbClr val="0070C0"/>
              </a:solidFill>
            </a:endParaRPr>
          </a:p>
          <a:p>
            <a:endParaRPr lang="en-US" sz="800" dirty="0" smtClean="0">
              <a:solidFill>
                <a:srgbClr val="0070C0"/>
              </a:solidFill>
            </a:endParaRPr>
          </a:p>
          <a:p>
            <a:r>
              <a:rPr lang="en-GB" sz="2400" dirty="0" smtClean="0">
                <a:solidFill>
                  <a:srgbClr val="0070C0"/>
                </a:solidFill>
              </a:rPr>
              <a:t>0. </a:t>
            </a:r>
            <a:r>
              <a:rPr lang="en-GB" sz="2400" b="1" dirty="0" smtClean="0">
                <a:solidFill>
                  <a:srgbClr val="0070C0"/>
                </a:solidFill>
              </a:rPr>
              <a:t>Presented  by </a:t>
            </a:r>
            <a:r>
              <a:rPr lang="en-GB" sz="2400" b="1" dirty="0" err="1" smtClean="0">
                <a:solidFill>
                  <a:srgbClr val="0070C0"/>
                </a:solidFill>
              </a:rPr>
              <a:t>Onyekwere</a:t>
            </a:r>
            <a:r>
              <a:rPr lang="en-GB" sz="2400" b="1" dirty="0" smtClean="0">
                <a:solidFill>
                  <a:srgbClr val="0070C0"/>
                </a:solidFill>
              </a:rPr>
              <a:t> </a:t>
            </a:r>
            <a:r>
              <a:rPr lang="en-GB" sz="2400" b="1" dirty="0" err="1" smtClean="0">
                <a:solidFill>
                  <a:srgbClr val="0070C0"/>
                </a:solidFill>
              </a:rPr>
              <a:t>Chidi</a:t>
            </a:r>
            <a:r>
              <a:rPr lang="en-GB" sz="2400" b="1" dirty="0" smtClean="0">
                <a:solidFill>
                  <a:srgbClr val="0070C0"/>
                </a:solidFill>
              </a:rPr>
              <a:t> </a:t>
            </a:r>
            <a:r>
              <a:rPr lang="en-GB" sz="2400" b="1" dirty="0" err="1" smtClean="0">
                <a:solidFill>
                  <a:srgbClr val="0070C0"/>
                </a:solidFill>
              </a:rPr>
              <a:t>Alwell</a:t>
            </a:r>
            <a:endParaRPr lang="en-GB" sz="2400" dirty="0" smtClean="0">
              <a:solidFill>
                <a:srgbClr val="0070C0"/>
              </a:solidFill>
            </a:endParaRPr>
          </a:p>
          <a:p>
            <a:r>
              <a:rPr lang="en-GB" sz="2400" dirty="0" smtClean="0">
                <a:solidFill>
                  <a:srgbClr val="0070C0"/>
                </a:solidFill>
              </a:rPr>
              <a:t>1. </a:t>
            </a:r>
            <a:r>
              <a:rPr lang="en-GB" sz="2400" b="1" dirty="0" smtClean="0">
                <a:solidFill>
                  <a:srgbClr val="0070C0"/>
                </a:solidFill>
              </a:rPr>
              <a:t>Cyber security project</a:t>
            </a:r>
            <a:endParaRPr lang="en-GB" sz="2400" dirty="0" smtClean="0">
              <a:solidFill>
                <a:srgbClr val="0070C0"/>
              </a:solidFill>
            </a:endParaRPr>
          </a:p>
          <a:p>
            <a:r>
              <a:rPr lang="en-GB" sz="2400" dirty="0" smtClean="0">
                <a:solidFill>
                  <a:srgbClr val="0070C0"/>
                </a:solidFill>
              </a:rPr>
              <a:t>2. </a:t>
            </a:r>
            <a:r>
              <a:rPr lang="en-GB" sz="2400" b="1" dirty="0" smtClean="0">
                <a:solidFill>
                  <a:srgbClr val="0070C0"/>
                </a:solidFill>
              </a:rPr>
              <a:t>A demonstration on the use of </a:t>
            </a:r>
            <a:r>
              <a:rPr lang="en-GB" sz="2400" b="1" dirty="0" err="1" smtClean="0">
                <a:solidFill>
                  <a:srgbClr val="0070C0"/>
                </a:solidFill>
              </a:rPr>
              <a:t>jsql,SQLMAP</a:t>
            </a:r>
            <a:r>
              <a:rPr lang="en-GB" sz="2400" b="1" dirty="0" smtClean="0">
                <a:solidFill>
                  <a:srgbClr val="0070C0"/>
                </a:solidFill>
              </a:rPr>
              <a:t> and manual method to infiltrate a website</a:t>
            </a:r>
            <a:endParaRPr lang="en-GB" sz="2400" dirty="0" smtClean="0">
              <a:solidFill>
                <a:srgbClr val="0070C0"/>
              </a:solidFill>
            </a:endParaRPr>
          </a:p>
          <a:p>
            <a:r>
              <a:rPr lang="en-GB" sz="1800" dirty="0" smtClean="0">
                <a:solidFill>
                  <a:srgbClr val="0070C0"/>
                </a:solidFill>
              </a:rPr>
              <a:t>2.1 using a demo website called DVWA</a:t>
            </a:r>
          </a:p>
          <a:p>
            <a:r>
              <a:rPr lang="en-GB" sz="1800" dirty="0" smtClean="0">
                <a:solidFill>
                  <a:srgbClr val="0070C0"/>
                </a:solidFill>
              </a:rPr>
              <a:t>2.2 First is to log in with </a:t>
            </a:r>
            <a:r>
              <a:rPr lang="en-GB" sz="1800" dirty="0" err="1" smtClean="0">
                <a:solidFill>
                  <a:srgbClr val="0070C0"/>
                </a:solidFill>
              </a:rPr>
              <a:t>ip</a:t>
            </a:r>
            <a:r>
              <a:rPr lang="en-GB" sz="1800" dirty="0" smtClean="0">
                <a:solidFill>
                  <a:srgbClr val="0070C0"/>
                </a:solidFill>
              </a:rPr>
              <a:t> address (e.g. 192.168.56.101/</a:t>
            </a:r>
            <a:r>
              <a:rPr lang="en-GB" sz="1800" dirty="0" err="1" smtClean="0">
                <a:solidFill>
                  <a:srgbClr val="0070C0"/>
                </a:solidFill>
              </a:rPr>
              <a:t>dvwa</a:t>
            </a:r>
            <a:r>
              <a:rPr lang="en-GB" sz="1800" dirty="0" smtClean="0">
                <a:solidFill>
                  <a:srgbClr val="0070C0"/>
                </a:solidFill>
              </a:rPr>
              <a:t>/login.php)</a:t>
            </a:r>
          </a:p>
          <a:p>
            <a:r>
              <a:rPr lang="en-GB" sz="1800" dirty="0" smtClean="0">
                <a:solidFill>
                  <a:srgbClr val="0070C0"/>
                </a:solidFill>
              </a:rPr>
              <a:t>2.3 How to know if this application is vulnerable to </a:t>
            </a:r>
            <a:r>
              <a:rPr lang="en-GB" sz="1800" dirty="0" err="1" smtClean="0">
                <a:solidFill>
                  <a:srgbClr val="0070C0"/>
                </a:solidFill>
              </a:rPr>
              <a:t>sql</a:t>
            </a:r>
            <a:r>
              <a:rPr lang="en-GB" sz="1800" dirty="0" smtClean="0">
                <a:solidFill>
                  <a:srgbClr val="0070C0"/>
                </a:solidFill>
              </a:rPr>
              <a:t> injection</a:t>
            </a:r>
          </a:p>
          <a:p>
            <a:r>
              <a:rPr lang="en-GB" sz="1800" dirty="0" smtClean="0">
                <a:solidFill>
                  <a:srgbClr val="0070C0"/>
                </a:solidFill>
              </a:rPr>
              <a:t>2.4 Syntax error will be displayed</a:t>
            </a:r>
          </a:p>
          <a:p>
            <a:r>
              <a:rPr lang="en-GB" sz="1800" dirty="0" smtClean="0">
                <a:solidFill>
                  <a:srgbClr val="0070C0"/>
                </a:solidFill>
              </a:rPr>
              <a:t>2.5 If the AND condition has any effect</a:t>
            </a:r>
          </a:p>
          <a:p>
            <a:r>
              <a:rPr lang="en-GB" sz="1800" dirty="0" smtClean="0">
                <a:solidFill>
                  <a:srgbClr val="0070C0"/>
                </a:solidFill>
              </a:rPr>
              <a:t>2.6 Input a quarry to retrieve information</a:t>
            </a:r>
          </a:p>
          <a:p>
            <a:r>
              <a:rPr lang="en-GB" sz="1800" dirty="0" smtClean="0">
                <a:solidFill>
                  <a:srgbClr val="0070C0"/>
                </a:solidFill>
              </a:rPr>
              <a:t>2.7 Get table from database</a:t>
            </a:r>
          </a:p>
          <a:p>
            <a:r>
              <a:rPr lang="en-GB" sz="1800" dirty="0" smtClean="0">
                <a:solidFill>
                  <a:srgbClr val="0070C0"/>
                </a:solidFill>
              </a:rPr>
              <a:t>2.8 Next is the users table</a:t>
            </a:r>
          </a:p>
          <a:p>
            <a:endParaRPr lang="en-GB" sz="1800" dirty="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US" dirty="0" smtClean="0">
              <a:solidFill>
                <a:srgbClr val="0070C0"/>
              </a:solidFill>
            </a:endParaRPr>
          </a:p>
          <a:p>
            <a:r>
              <a:rPr lang="en-GB" sz="2400" dirty="0" smtClean="0">
                <a:solidFill>
                  <a:srgbClr val="0070C0"/>
                </a:solidFill>
              </a:rPr>
              <a:t>3. </a:t>
            </a:r>
            <a:r>
              <a:rPr lang="en-GB" sz="2400" b="1" dirty="0" smtClean="0">
                <a:solidFill>
                  <a:srgbClr val="0070C0"/>
                </a:solidFill>
              </a:rPr>
              <a:t>Automated SQL injection</a:t>
            </a:r>
            <a:endParaRPr lang="en-GB" sz="2400" dirty="0" smtClean="0">
              <a:solidFill>
                <a:srgbClr val="0070C0"/>
              </a:solidFill>
            </a:endParaRPr>
          </a:p>
          <a:p>
            <a:r>
              <a:rPr lang="en-GB" sz="1800" dirty="0" smtClean="0">
                <a:solidFill>
                  <a:srgbClr val="0070C0"/>
                </a:solidFill>
              </a:rPr>
              <a:t>3.1 Vulnweb.com</a:t>
            </a:r>
          </a:p>
          <a:p>
            <a:r>
              <a:rPr lang="en-GB" sz="1800" dirty="0" smtClean="0">
                <a:solidFill>
                  <a:srgbClr val="0070C0"/>
                </a:solidFill>
              </a:rPr>
              <a:t>3.2 A demo link</a:t>
            </a:r>
          </a:p>
          <a:p>
            <a:r>
              <a:rPr lang="en-GB" sz="1800" dirty="0" smtClean="0">
                <a:solidFill>
                  <a:srgbClr val="0070C0"/>
                </a:solidFill>
              </a:rPr>
              <a:t>3.3 Open the </a:t>
            </a:r>
            <a:r>
              <a:rPr lang="en-GB" sz="1800" dirty="0" err="1" smtClean="0">
                <a:solidFill>
                  <a:srgbClr val="0070C0"/>
                </a:solidFill>
              </a:rPr>
              <a:t>sqlmap</a:t>
            </a:r>
            <a:r>
              <a:rPr lang="en-GB" sz="1800" dirty="0" smtClean="0">
                <a:solidFill>
                  <a:srgbClr val="0070C0"/>
                </a:solidFill>
              </a:rPr>
              <a:t> terminal, and type </a:t>
            </a:r>
            <a:r>
              <a:rPr lang="en-GB" sz="1800" dirty="0" err="1" smtClean="0">
                <a:solidFill>
                  <a:srgbClr val="0070C0"/>
                </a:solidFill>
              </a:rPr>
              <a:t>sqlmap</a:t>
            </a:r>
            <a:r>
              <a:rPr lang="en-GB" sz="1800" dirty="0" smtClean="0">
                <a:solidFill>
                  <a:srgbClr val="0070C0"/>
                </a:solidFill>
              </a:rPr>
              <a:t> –u then paste the </a:t>
            </a:r>
            <a:r>
              <a:rPr lang="en-GB" sz="1800" dirty="0" err="1" smtClean="0">
                <a:solidFill>
                  <a:srgbClr val="0070C0"/>
                </a:solidFill>
              </a:rPr>
              <a:t>url</a:t>
            </a:r>
            <a:endParaRPr lang="en-GB" sz="1800" dirty="0" smtClean="0">
              <a:solidFill>
                <a:srgbClr val="0070C0"/>
              </a:solidFill>
            </a:endParaRPr>
          </a:p>
          <a:p>
            <a:r>
              <a:rPr lang="en-GB" sz="1800" dirty="0" smtClean="0">
                <a:solidFill>
                  <a:srgbClr val="0070C0"/>
                </a:solidFill>
              </a:rPr>
              <a:t>3.4 </a:t>
            </a:r>
            <a:r>
              <a:rPr lang="en-GB" sz="1800" dirty="0" err="1" smtClean="0">
                <a:solidFill>
                  <a:srgbClr val="0070C0"/>
                </a:solidFill>
              </a:rPr>
              <a:t>Acuart</a:t>
            </a:r>
            <a:r>
              <a:rPr lang="en-GB" sz="1800" dirty="0" smtClean="0">
                <a:solidFill>
                  <a:srgbClr val="0070C0"/>
                </a:solidFill>
              </a:rPr>
              <a:t> and information Schema database</a:t>
            </a:r>
          </a:p>
          <a:p>
            <a:r>
              <a:rPr lang="en-GB" sz="1800" dirty="0" smtClean="0">
                <a:solidFill>
                  <a:srgbClr val="0070C0"/>
                </a:solidFill>
              </a:rPr>
              <a:t>3.5 </a:t>
            </a:r>
            <a:r>
              <a:rPr lang="en-GB" sz="1800" dirty="0" err="1" smtClean="0">
                <a:solidFill>
                  <a:srgbClr val="0070C0"/>
                </a:solidFill>
              </a:rPr>
              <a:t>Acuart</a:t>
            </a:r>
            <a:r>
              <a:rPr lang="en-GB" sz="1800" dirty="0" smtClean="0">
                <a:solidFill>
                  <a:srgbClr val="0070C0"/>
                </a:solidFill>
              </a:rPr>
              <a:t> database tables</a:t>
            </a:r>
          </a:p>
          <a:p>
            <a:r>
              <a:rPr lang="en-GB" sz="1800" dirty="0" smtClean="0">
                <a:solidFill>
                  <a:srgbClr val="0070C0"/>
                </a:solidFill>
              </a:rPr>
              <a:t>3.6 Username and columns in the users tables</a:t>
            </a:r>
          </a:p>
          <a:p>
            <a:r>
              <a:rPr lang="en-GB" sz="1800" dirty="0" smtClean="0">
                <a:solidFill>
                  <a:srgbClr val="0070C0"/>
                </a:solidFill>
              </a:rPr>
              <a:t>3.7 Information about the “</a:t>
            </a:r>
            <a:r>
              <a:rPr lang="en-GB" sz="1800" dirty="0" err="1" smtClean="0">
                <a:solidFill>
                  <a:srgbClr val="0070C0"/>
                </a:solidFill>
              </a:rPr>
              <a:t>uname</a:t>
            </a:r>
            <a:r>
              <a:rPr lang="en-GB" sz="1800" dirty="0" smtClean="0">
                <a:solidFill>
                  <a:srgbClr val="0070C0"/>
                </a:solidFill>
              </a:rPr>
              <a:t>”</a:t>
            </a:r>
          </a:p>
          <a:p>
            <a:r>
              <a:rPr lang="en-GB" sz="1800" dirty="0" smtClean="0">
                <a:solidFill>
                  <a:srgbClr val="0070C0"/>
                </a:solidFill>
              </a:rPr>
              <a:t>3.8 Information about the “pass”</a:t>
            </a:r>
          </a:p>
          <a:p>
            <a:r>
              <a:rPr lang="en-GB" sz="1800" dirty="0" smtClean="0">
                <a:solidFill>
                  <a:srgbClr val="0070C0"/>
                </a:solidFill>
              </a:rPr>
              <a:t>3.9 Information about the “email”</a:t>
            </a:r>
          </a:p>
          <a:p>
            <a:endParaRPr lang="en-GB" sz="1800" dirty="0">
              <a:solidFill>
                <a:srgbClr val="0070C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endParaRPr lang="en-US" dirty="0" smtClean="0">
              <a:solidFill>
                <a:srgbClr val="0070C0"/>
              </a:solidFill>
            </a:endParaRPr>
          </a:p>
          <a:p>
            <a:r>
              <a:rPr lang="en-GB" sz="2400" dirty="0" smtClean="0">
                <a:solidFill>
                  <a:srgbClr val="0070C0"/>
                </a:solidFill>
              </a:rPr>
              <a:t>4. </a:t>
            </a:r>
            <a:r>
              <a:rPr lang="en-GB" sz="2400" b="1" dirty="0" smtClean="0">
                <a:solidFill>
                  <a:srgbClr val="0070C0"/>
                </a:solidFill>
              </a:rPr>
              <a:t>Concept of SQL injection and the various types</a:t>
            </a:r>
            <a:r>
              <a:rPr lang="en-GB" sz="1800" b="1" dirty="0" smtClean="0">
                <a:solidFill>
                  <a:srgbClr val="0070C0"/>
                </a:solidFill>
              </a:rPr>
              <a:t> </a:t>
            </a:r>
            <a:endParaRPr lang="en-GB" sz="1800" dirty="0" smtClean="0">
              <a:solidFill>
                <a:srgbClr val="0070C0"/>
              </a:solidFill>
            </a:endParaRPr>
          </a:p>
          <a:p>
            <a:r>
              <a:rPr lang="en-GB" sz="1800" dirty="0" smtClean="0">
                <a:solidFill>
                  <a:srgbClr val="0070C0"/>
                </a:solidFill>
              </a:rPr>
              <a:t>4.0 Types of SQL</a:t>
            </a:r>
          </a:p>
          <a:p>
            <a:r>
              <a:rPr lang="en-GB" sz="1800" dirty="0" smtClean="0">
                <a:solidFill>
                  <a:srgbClr val="0070C0"/>
                </a:solidFill>
              </a:rPr>
              <a:t>4.1 Error based</a:t>
            </a:r>
          </a:p>
          <a:p>
            <a:r>
              <a:rPr lang="en-GB" sz="1800" dirty="0" smtClean="0">
                <a:solidFill>
                  <a:srgbClr val="0070C0"/>
                </a:solidFill>
              </a:rPr>
              <a:t>4.1.1 Union bases</a:t>
            </a:r>
          </a:p>
          <a:p>
            <a:r>
              <a:rPr lang="en-GB" sz="1800" dirty="0" smtClean="0">
                <a:solidFill>
                  <a:srgbClr val="0070C0"/>
                </a:solidFill>
              </a:rPr>
              <a:t>4.2 Demonstrate and explain the concept of cryptography</a:t>
            </a:r>
          </a:p>
          <a:p>
            <a:r>
              <a:rPr lang="en-GB" sz="1800" dirty="0" smtClean="0">
                <a:solidFill>
                  <a:srgbClr val="0070C0"/>
                </a:solidFill>
              </a:rPr>
              <a:t>4.2.1 The </a:t>
            </a:r>
            <a:r>
              <a:rPr lang="en-GB" sz="1800" dirty="0" err="1" smtClean="0">
                <a:solidFill>
                  <a:srgbClr val="0070C0"/>
                </a:solidFill>
              </a:rPr>
              <a:t>Caeser</a:t>
            </a:r>
            <a:r>
              <a:rPr lang="en-GB" sz="1800" dirty="0" smtClean="0">
                <a:solidFill>
                  <a:srgbClr val="0070C0"/>
                </a:solidFill>
              </a:rPr>
              <a:t> cipher</a:t>
            </a:r>
          </a:p>
          <a:p>
            <a:r>
              <a:rPr lang="en-GB" sz="1800" dirty="0" smtClean="0">
                <a:solidFill>
                  <a:srgbClr val="0070C0"/>
                </a:solidFill>
              </a:rPr>
              <a:t>4.2.2 </a:t>
            </a:r>
            <a:r>
              <a:rPr lang="en-GB" sz="1800" dirty="0" err="1" smtClean="0">
                <a:solidFill>
                  <a:srgbClr val="0070C0"/>
                </a:solidFill>
              </a:rPr>
              <a:t>Kamasutra</a:t>
            </a:r>
            <a:r>
              <a:rPr lang="en-GB" sz="1800" dirty="0" smtClean="0">
                <a:solidFill>
                  <a:srgbClr val="0070C0"/>
                </a:solidFill>
              </a:rPr>
              <a:t> Cipher</a:t>
            </a:r>
          </a:p>
          <a:p>
            <a:r>
              <a:rPr lang="en-GB" sz="1800" dirty="0" smtClean="0">
                <a:solidFill>
                  <a:srgbClr val="0070C0"/>
                </a:solidFill>
              </a:rPr>
              <a:t>4.3 methods of hashing passwords</a:t>
            </a:r>
          </a:p>
          <a:p>
            <a:r>
              <a:rPr lang="en-GB" sz="1800" dirty="0" smtClean="0">
                <a:solidFill>
                  <a:srgbClr val="0070C0"/>
                </a:solidFill>
              </a:rPr>
              <a:t>4.3.1 Linux terminal</a:t>
            </a:r>
          </a:p>
          <a:p>
            <a:r>
              <a:rPr lang="en-GB" sz="1800" dirty="0" smtClean="0">
                <a:solidFill>
                  <a:srgbClr val="0070C0"/>
                </a:solidFill>
              </a:rPr>
              <a:t>4.4 </a:t>
            </a:r>
            <a:r>
              <a:rPr lang="en-US" sz="1800" dirty="0" smtClean="0">
                <a:solidFill>
                  <a:srgbClr val="0070C0"/>
                </a:solidFill>
              </a:rPr>
              <a:t>Live demo. Log into the </a:t>
            </a:r>
            <a:r>
              <a:rPr lang="en-US" sz="1800" dirty="0" err="1" smtClean="0">
                <a:solidFill>
                  <a:srgbClr val="0070C0"/>
                </a:solidFill>
              </a:rPr>
              <a:t>owaspbwa</a:t>
            </a:r>
            <a:r>
              <a:rPr lang="en-US" sz="1800" dirty="0" smtClean="0">
                <a:solidFill>
                  <a:srgbClr val="0070C0"/>
                </a:solidFill>
              </a:rPr>
              <a:t> data base, specifically the DVWA.</a:t>
            </a:r>
            <a:endParaRPr lang="en-GB" sz="1800" dirty="0" smtClean="0">
              <a:solidFill>
                <a:srgbClr val="0070C0"/>
              </a:solidFill>
            </a:endParaRPr>
          </a:p>
          <a:p>
            <a:r>
              <a:rPr lang="en-US" sz="1800" dirty="0" smtClean="0">
                <a:solidFill>
                  <a:srgbClr val="0070C0"/>
                </a:solidFill>
              </a:rPr>
              <a:t>4.4.1 Create a new user; hash the new password and use the new user to log into the system.</a:t>
            </a:r>
            <a:endParaRPr lang="en-GB" sz="1800" dirty="0" smtClean="0">
              <a:solidFill>
                <a:srgbClr val="0070C0"/>
              </a:solidFill>
            </a:endParaRPr>
          </a:p>
          <a:p>
            <a:r>
              <a:rPr lang="en-US" sz="1800" dirty="0" smtClean="0">
                <a:solidFill>
                  <a:srgbClr val="0070C0"/>
                </a:solidFill>
              </a:rPr>
              <a:t> </a:t>
            </a:r>
            <a:endParaRPr lang="en-GB" sz="1800" dirty="0" smtClean="0">
              <a:solidFill>
                <a:srgbClr val="0070C0"/>
              </a:solidFill>
            </a:endParaRPr>
          </a:p>
          <a:p>
            <a:pPr>
              <a:buNone/>
            </a:pPr>
            <a:endParaRPr lang="en-GB" sz="1800" dirty="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1849" y="1037800"/>
            <a:ext cx="5605629" cy="994172"/>
          </a:xfrm>
        </p:spPr>
        <p:txBody>
          <a:bodyPr>
            <a:normAutofit/>
          </a:bodyPr>
          <a:lstStyle/>
          <a:p>
            <a:pPr algn="l"/>
            <a:r>
              <a:rPr lang="en-US" sz="3850" b="1" dirty="0"/>
              <a:t>Question 1</a:t>
            </a:r>
            <a:endParaRPr lang="en-GB" sz="3850" dirty="0"/>
          </a:p>
        </p:txBody>
      </p:sp>
      <p:sp>
        <p:nvSpPr>
          <p:cNvPr id="3" name="Content Placeholder 2"/>
          <p:cNvSpPr>
            <a:spLocks noGrp="1"/>
          </p:cNvSpPr>
          <p:nvPr>
            <p:ph idx="1"/>
          </p:nvPr>
        </p:nvSpPr>
        <p:spPr>
          <a:xfrm>
            <a:off x="857225" y="1928802"/>
            <a:ext cx="5070694" cy="3394311"/>
          </a:xfrm>
        </p:spPr>
        <p:txBody>
          <a:bodyPr anchor="ctr">
            <a:normAutofit lnSpcReduction="10000"/>
          </a:bodyPr>
          <a:lstStyle/>
          <a:p>
            <a:pPr>
              <a:buNone/>
            </a:pPr>
            <a:r>
              <a:rPr lang="en-US" sz="2100" b="1" dirty="0"/>
              <a:t>Show a demonstration on how to use </a:t>
            </a:r>
            <a:r>
              <a:rPr lang="en-US" sz="2100" b="1" dirty="0" err="1"/>
              <a:t>jsql</a:t>
            </a:r>
            <a:r>
              <a:rPr lang="en-US" sz="2100" b="1" dirty="0"/>
              <a:t>, </a:t>
            </a:r>
          </a:p>
          <a:p>
            <a:pPr>
              <a:buNone/>
            </a:pPr>
            <a:r>
              <a:rPr lang="en-US" sz="2100" b="1" dirty="0"/>
              <a:t>SQLMAP, and manual method to infiltrate a </a:t>
            </a:r>
          </a:p>
          <a:p>
            <a:pPr>
              <a:buNone/>
            </a:pPr>
            <a:r>
              <a:rPr lang="en-US" sz="2100" b="1" dirty="0"/>
              <a:t>website.</a:t>
            </a:r>
          </a:p>
          <a:p>
            <a:pPr>
              <a:buNone/>
            </a:pPr>
            <a:endParaRPr lang="en-GB" sz="2100" b="1" dirty="0"/>
          </a:p>
          <a:p>
            <a:pPr>
              <a:buNone/>
            </a:pPr>
            <a:r>
              <a:rPr lang="en-US" sz="2100" b="1" dirty="0"/>
              <a:t>Answer</a:t>
            </a:r>
            <a:r>
              <a:rPr lang="en-US" sz="2100" b="1" dirty="0" smtClean="0"/>
              <a:t>:</a:t>
            </a:r>
          </a:p>
          <a:p>
            <a:pPr>
              <a:buNone/>
            </a:pPr>
            <a:r>
              <a:rPr lang="en-US" sz="2100" dirty="0" smtClean="0"/>
              <a:t>Here I am using a demo website called DVWA,</a:t>
            </a:r>
          </a:p>
          <a:p>
            <a:pPr>
              <a:buNone/>
            </a:pPr>
            <a:r>
              <a:rPr lang="en-US" sz="2100" dirty="0" smtClean="0"/>
              <a:t>First is to log in with the </a:t>
            </a:r>
            <a:r>
              <a:rPr lang="en-US" sz="2100" dirty="0" err="1" smtClean="0"/>
              <a:t>ip</a:t>
            </a:r>
            <a:r>
              <a:rPr lang="en-US" sz="2100" dirty="0" smtClean="0"/>
              <a:t> address</a:t>
            </a:r>
          </a:p>
          <a:p>
            <a:pPr>
              <a:buNone/>
            </a:pPr>
            <a:r>
              <a:rPr lang="en-US" sz="2100" dirty="0" err="1" smtClean="0"/>
              <a:t>Eg</a:t>
            </a:r>
            <a:r>
              <a:rPr lang="en-US" sz="2100" dirty="0" smtClean="0"/>
              <a:t>. 192.168.56.101/</a:t>
            </a:r>
            <a:r>
              <a:rPr lang="en-US" sz="2100" dirty="0" err="1" smtClean="0"/>
              <a:t>dvwa</a:t>
            </a:r>
            <a:r>
              <a:rPr lang="en-US" sz="2100" dirty="0" smtClean="0"/>
              <a:t>/login.php</a:t>
            </a:r>
          </a:p>
          <a:p>
            <a:pPr>
              <a:buNone/>
            </a:pPr>
            <a:endParaRPr lang="en-GB" sz="2100" dirty="0"/>
          </a:p>
        </p:txBody>
      </p:sp>
      <p:sp>
        <p:nvSpPr>
          <p:cNvPr id="10" name="Rectangle 9">
            <a:extLst>
              <a:ext uri="{FF2B5EF4-FFF2-40B4-BE49-F238E27FC236}">
                <a16:creationId xmlns="" xmlns:a16="http://schemas.microsoft.com/office/drawing/2014/main" id="{59A309A7-1751-4ABE-A3C1-EEC40366AD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Oval 13">
            <a:extLst>
              <a:ext uri="{FF2B5EF4-FFF2-40B4-BE49-F238E27FC236}">
                <a16:creationId xmlns="" xmlns:a16="http://schemas.microsoft.com/office/drawing/2014/main" id="{967D8EB6-EAE1-4F9C-B398-83321E28720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5" name="Graphic 14" descr="Monitor">
            <a:extLst>
              <a:ext uri="{FF2B5EF4-FFF2-40B4-BE49-F238E27FC236}">
                <a16:creationId xmlns="" xmlns:a16="http://schemas.microsoft.com/office/drawing/2014/main" id="{EC433041-69F1-9601-2B24-34A8204954D9}"/>
              </a:ext>
            </a:extLst>
          </p:cNvPr>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p:cNvPicPr>
            <a:picLocks noGrp="1" noChangeAspect="1" noChangeArrowheads="1"/>
          </p:cNvPicPr>
          <p:nvPr>
            <p:ph idx="1"/>
          </p:nvPr>
        </p:nvPicPr>
        <p:blipFill>
          <a:blip r:embed="rId2"/>
          <a:srcRect t="7260" r="13616" b="5927"/>
          <a:stretch>
            <a:fillRect/>
          </a:stretch>
        </p:blipFill>
        <p:spPr bwMode="auto">
          <a:xfrm>
            <a:off x="546957" y="1928802"/>
            <a:ext cx="6954001" cy="392909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I am going to attack this form, as a hacker , I need to get more information from here.</a:t>
            </a:r>
          </a:p>
        </p:txBody>
      </p:sp>
      <p:pic>
        <p:nvPicPr>
          <p:cNvPr id="2052" name="Picture 4"/>
          <p:cNvPicPr>
            <a:picLocks noGrp="1" noChangeAspect="1" noChangeArrowheads="1"/>
          </p:cNvPicPr>
          <p:nvPr>
            <p:ph idx="1"/>
          </p:nvPr>
        </p:nvPicPr>
        <p:blipFill>
          <a:blip r:embed="rId2"/>
          <a:srcRect t="7260" r="14503" b="5927"/>
          <a:stretch>
            <a:fillRect/>
          </a:stretch>
        </p:blipFill>
        <p:spPr bwMode="auto">
          <a:xfrm>
            <a:off x="546957" y="1928802"/>
            <a:ext cx="6882563" cy="392909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How to know if this application is vulnerable to </a:t>
            </a:r>
            <a:r>
              <a:rPr lang="en-US" sz="1000" dirty="0" err="1" smtClean="0"/>
              <a:t>sql</a:t>
            </a:r>
            <a:r>
              <a:rPr lang="en-US" sz="1000" dirty="0" smtClean="0"/>
              <a:t> injection,</a:t>
            </a:r>
            <a:br>
              <a:rPr lang="en-US" sz="1000" dirty="0" smtClean="0"/>
            </a:br>
            <a:r>
              <a:rPr lang="en-US" sz="1000" dirty="0" smtClean="0"/>
              <a:t>I will just punch apostrophe in the form</a:t>
            </a:r>
            <a:br>
              <a:rPr lang="en-US" sz="1000" dirty="0" smtClean="0"/>
            </a:br>
            <a:r>
              <a:rPr lang="en-US" sz="1000" dirty="0" smtClean="0"/>
              <a:t>‘ or 1’</a:t>
            </a:r>
            <a:endParaRPr lang="en-GB" sz="1000" dirty="0"/>
          </a:p>
        </p:txBody>
      </p:sp>
      <p:pic>
        <p:nvPicPr>
          <p:cNvPr id="3074" name="Picture 2"/>
          <p:cNvPicPr>
            <a:picLocks noGrp="1" noChangeAspect="1" noChangeArrowheads="1"/>
          </p:cNvPicPr>
          <p:nvPr>
            <p:ph idx="1"/>
          </p:nvPr>
        </p:nvPicPr>
        <p:blipFill>
          <a:blip r:embed="rId2"/>
          <a:srcRect t="7260" r="13616" b="5927"/>
          <a:stretch>
            <a:fillRect/>
          </a:stretch>
        </p:blipFill>
        <p:spPr bwMode="auto">
          <a:xfrm>
            <a:off x="546957" y="1928802"/>
            <a:ext cx="6954001" cy="392909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We are going to get a syntax error like what we have below</a:t>
            </a:r>
            <a:br>
              <a:rPr lang="en-US" sz="1000" dirty="0" smtClean="0"/>
            </a:br>
            <a:r>
              <a:rPr lang="en-US" sz="1000" dirty="0" smtClean="0"/>
              <a:t>the below means that the data from the field  is given to </a:t>
            </a:r>
            <a:r>
              <a:rPr lang="en-US" sz="1000" dirty="0" err="1" smtClean="0"/>
              <a:t>sql</a:t>
            </a:r>
            <a:r>
              <a:rPr lang="en-US" sz="1000" dirty="0" smtClean="0"/>
              <a:t> query without any data validation, so this gives an information to the hacker that he can  manipulate the input data and get data from the database. So we have that this application is vulnerable or inject able.</a:t>
            </a:r>
            <a:endParaRPr lang="en-GB" sz="1000" dirty="0"/>
          </a:p>
        </p:txBody>
      </p:sp>
      <p:pic>
        <p:nvPicPr>
          <p:cNvPr id="4098" name="Picture 2"/>
          <p:cNvPicPr>
            <a:picLocks noGrp="1" noChangeAspect="1" noChangeArrowheads="1"/>
          </p:cNvPicPr>
          <p:nvPr>
            <p:ph idx="1"/>
          </p:nvPr>
        </p:nvPicPr>
        <p:blipFill>
          <a:blip r:embed="rId2"/>
          <a:srcRect t="7260" r="13616" b="5927"/>
          <a:stretch>
            <a:fillRect/>
          </a:stretch>
        </p:blipFill>
        <p:spPr bwMode="auto">
          <a:xfrm>
            <a:off x="546957" y="1928802"/>
            <a:ext cx="6954001" cy="392909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Here I am going to try if the AND condition has any effect on the  output</a:t>
            </a:r>
            <a:br>
              <a:rPr lang="en-US" sz="1000" dirty="0" smtClean="0"/>
            </a:br>
            <a:r>
              <a:rPr lang="en-US" sz="1000" dirty="0" smtClean="0"/>
              <a:t>The code can be </a:t>
            </a:r>
            <a:br>
              <a:rPr lang="en-US" sz="1000" dirty="0" smtClean="0"/>
            </a:br>
            <a:r>
              <a:rPr lang="en-US" sz="1000" dirty="0" smtClean="0"/>
              <a:t>1’and 1=1# </a:t>
            </a:r>
            <a:r>
              <a:rPr lang="en-US" sz="1000" dirty="0" smtClean="0">
                <a:sym typeface="Wingdings" pitchFamily="2" charset="2"/>
              </a:rPr>
              <a:t>TRUE</a:t>
            </a:r>
            <a:br>
              <a:rPr lang="en-US" sz="1000" dirty="0" smtClean="0">
                <a:sym typeface="Wingdings" pitchFamily="2" charset="2"/>
              </a:rPr>
            </a:br>
            <a:r>
              <a:rPr lang="en-US" sz="1000" dirty="0" smtClean="0">
                <a:sym typeface="Wingdings" pitchFamily="2" charset="2"/>
              </a:rPr>
              <a:t>below shows that there's no change to the output, so inputting an AND condition does not have any effect on the output.</a:t>
            </a:r>
            <a:br>
              <a:rPr lang="en-US" sz="1000" dirty="0" smtClean="0">
                <a:sym typeface="Wingdings" pitchFamily="2" charset="2"/>
              </a:rPr>
            </a:br>
            <a:endParaRPr lang="en-GB" sz="1000" dirty="0"/>
          </a:p>
        </p:txBody>
      </p:sp>
      <p:pic>
        <p:nvPicPr>
          <p:cNvPr id="5122" name="Picture 2"/>
          <p:cNvPicPr>
            <a:picLocks noGrp="1" noChangeAspect="1" noChangeArrowheads="1"/>
          </p:cNvPicPr>
          <p:nvPr>
            <p:ph idx="1"/>
          </p:nvPr>
        </p:nvPicPr>
        <p:blipFill>
          <a:blip r:embed="rId2"/>
          <a:srcRect t="5682" r="15391" b="7506"/>
          <a:stretch>
            <a:fillRect/>
          </a:stretch>
        </p:blipFill>
        <p:spPr bwMode="auto">
          <a:xfrm>
            <a:off x="546957" y="1857364"/>
            <a:ext cx="6811125" cy="392909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Now we are going to input a quarry to retrieve information from the database, and here we are going to include the union</a:t>
            </a:r>
            <a:br>
              <a:rPr lang="en-US" sz="1000" dirty="0" smtClean="0"/>
            </a:br>
            <a:r>
              <a:rPr lang="en-US" sz="1000" dirty="0" smtClean="0"/>
              <a:t>1’and 1=1 union select database(), user()#</a:t>
            </a:r>
            <a:br>
              <a:rPr lang="en-US" sz="1000" dirty="0" smtClean="0"/>
            </a:br>
            <a:endParaRPr lang="en-GB" sz="1000" dirty="0"/>
          </a:p>
        </p:txBody>
      </p:sp>
      <p:pic>
        <p:nvPicPr>
          <p:cNvPr id="6146" name="Picture 2"/>
          <p:cNvPicPr>
            <a:picLocks noGrp="1" noChangeAspect="1" noChangeArrowheads="1"/>
          </p:cNvPicPr>
          <p:nvPr>
            <p:ph idx="1"/>
          </p:nvPr>
        </p:nvPicPr>
        <p:blipFill>
          <a:blip r:embed="rId2"/>
          <a:srcRect t="5682" r="15391" b="-386"/>
          <a:stretch>
            <a:fillRect/>
          </a:stretch>
        </p:blipFill>
        <p:spPr bwMode="auto">
          <a:xfrm>
            <a:off x="546957" y="1857364"/>
            <a:ext cx="6811125" cy="428628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We can see below that the  first name is Adam while  the surname is  Smith.</a:t>
            </a:r>
            <a:endParaRPr lang="en-GB" sz="1000" dirty="0"/>
          </a:p>
        </p:txBody>
      </p:sp>
      <p:pic>
        <p:nvPicPr>
          <p:cNvPr id="7170" name="Picture 2"/>
          <p:cNvPicPr>
            <a:picLocks noGrp="1" noChangeAspect="1" noChangeArrowheads="1"/>
          </p:cNvPicPr>
          <p:nvPr>
            <p:ph idx="1"/>
          </p:nvPr>
        </p:nvPicPr>
        <p:blipFill>
          <a:blip r:embed="rId2"/>
          <a:srcRect t="5682" r="15391" b="7506"/>
          <a:stretch>
            <a:fillRect/>
          </a:stretch>
        </p:blipFill>
        <p:spPr bwMode="auto">
          <a:xfrm>
            <a:off x="546957" y="1857364"/>
            <a:ext cx="6811125" cy="392909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I can go further to get the tables from the database.</a:t>
            </a:r>
            <a:br>
              <a:rPr lang="en-US" sz="1000" dirty="0" smtClean="0"/>
            </a:br>
            <a:r>
              <a:rPr lang="en-GB" sz="1000" dirty="0" smtClean="0"/>
              <a:t>1'and 1=1 union select null, </a:t>
            </a:r>
            <a:r>
              <a:rPr lang="en-GB" sz="1000" dirty="0" err="1" smtClean="0"/>
              <a:t>table_name</a:t>
            </a:r>
            <a:r>
              <a:rPr lang="en-GB" sz="1000" dirty="0" smtClean="0"/>
              <a:t> from </a:t>
            </a:r>
            <a:r>
              <a:rPr lang="en-GB" sz="1000" dirty="0" err="1" smtClean="0"/>
              <a:t>information_schema.tables</a:t>
            </a:r>
            <a:r>
              <a:rPr lang="en-GB" sz="1000" dirty="0" smtClean="0"/>
              <a:t>#</a:t>
            </a:r>
            <a:endParaRPr lang="en-GB" sz="1000" dirty="0"/>
          </a:p>
        </p:txBody>
      </p:sp>
      <p:pic>
        <p:nvPicPr>
          <p:cNvPr id="8194" name="Picture 2"/>
          <p:cNvPicPr>
            <a:picLocks noGrp="1" noChangeAspect="1" noChangeArrowheads="1"/>
          </p:cNvPicPr>
          <p:nvPr>
            <p:ph idx="1"/>
          </p:nvPr>
        </p:nvPicPr>
        <p:blipFill>
          <a:blip r:embed="rId2"/>
          <a:srcRect t="5682" r="15391" b="7506"/>
          <a:stretch>
            <a:fillRect/>
          </a:stretch>
        </p:blipFill>
        <p:spPr bwMode="auto">
          <a:xfrm>
            <a:off x="546957" y="1857364"/>
            <a:ext cx="6811125" cy="392909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The </a:t>
            </a:r>
            <a:r>
              <a:rPr lang="en-US" sz="1000" dirty="0" err="1" smtClean="0"/>
              <a:t>information_schema.tables</a:t>
            </a:r>
            <a:r>
              <a:rPr lang="en-US" sz="1000" dirty="0" smtClean="0"/>
              <a:t> is basically giving me the list of all the tables in the database.</a:t>
            </a:r>
            <a:br>
              <a:rPr lang="en-US" sz="1000" dirty="0" smtClean="0"/>
            </a:br>
            <a:endParaRPr lang="en-GB" sz="1000" dirty="0"/>
          </a:p>
        </p:txBody>
      </p:sp>
      <p:pic>
        <p:nvPicPr>
          <p:cNvPr id="9218" name="Picture 2"/>
          <p:cNvPicPr>
            <a:picLocks noGrp="1" noChangeAspect="1" noChangeArrowheads="1"/>
          </p:cNvPicPr>
          <p:nvPr>
            <p:ph idx="1"/>
          </p:nvPr>
        </p:nvPicPr>
        <p:blipFill>
          <a:blip r:embed="rId2"/>
          <a:srcRect t="5682" r="14503" b="7506"/>
          <a:stretch>
            <a:fillRect/>
          </a:stretch>
        </p:blipFill>
        <p:spPr bwMode="auto">
          <a:xfrm>
            <a:off x="546957" y="1857364"/>
            <a:ext cx="6882563" cy="392909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000" dirty="0" smtClean="0"/>
              <a:t>The last table is the users table,</a:t>
            </a:r>
            <a:br>
              <a:rPr lang="en-US" sz="1000" dirty="0" smtClean="0"/>
            </a:br>
            <a:r>
              <a:rPr lang="en-US" sz="1000" dirty="0" smtClean="0"/>
              <a:t>As a hacker I will be interested in the user table  to get  the user name and password of the users.</a:t>
            </a:r>
            <a:br>
              <a:rPr lang="en-US" sz="1000" dirty="0" smtClean="0"/>
            </a:br>
            <a:r>
              <a:rPr lang="en-GB" sz="1000" dirty="0" smtClean="0"/>
              <a:t>1'and 1=1 union select </a:t>
            </a:r>
            <a:r>
              <a:rPr lang="en-GB" sz="1000" dirty="0" err="1" smtClean="0"/>
              <a:t>user,password</a:t>
            </a:r>
            <a:r>
              <a:rPr lang="en-GB" sz="1000" dirty="0" smtClean="0"/>
              <a:t> from users#</a:t>
            </a:r>
            <a:endParaRPr lang="en-GB" sz="1000" dirty="0"/>
          </a:p>
        </p:txBody>
      </p:sp>
      <p:pic>
        <p:nvPicPr>
          <p:cNvPr id="10242" name="Picture 2"/>
          <p:cNvPicPr>
            <a:picLocks noGrp="1" noChangeAspect="1" noChangeArrowheads="1"/>
          </p:cNvPicPr>
          <p:nvPr>
            <p:ph idx="1"/>
          </p:nvPr>
        </p:nvPicPr>
        <p:blipFill>
          <a:blip r:embed="rId2"/>
          <a:srcRect t="5682" r="15391" b="5927"/>
          <a:stretch>
            <a:fillRect/>
          </a:stretch>
        </p:blipFill>
        <p:spPr bwMode="auto">
          <a:xfrm>
            <a:off x="546957" y="1857364"/>
            <a:ext cx="6811125" cy="400052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1266" name="Picture 2"/>
          <p:cNvPicPr>
            <a:picLocks noGrp="1" noChangeAspect="1" noChangeArrowheads="1"/>
          </p:cNvPicPr>
          <p:nvPr>
            <p:ph idx="1"/>
          </p:nvPr>
        </p:nvPicPr>
        <p:blipFill>
          <a:blip r:embed="rId2"/>
          <a:srcRect/>
          <a:stretch>
            <a:fillRect/>
          </a:stretch>
        </p:blipFill>
        <p:spPr bwMode="auto">
          <a:xfrm>
            <a:off x="546957" y="1600200"/>
            <a:ext cx="8050085" cy="4525963"/>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t>Automated SQL injection</a:t>
            </a:r>
            <a:endParaRPr lang="en-GB" sz="1800" dirty="0"/>
          </a:p>
        </p:txBody>
      </p:sp>
      <p:sp>
        <p:nvSpPr>
          <p:cNvPr id="3" name="Content Placeholder 2"/>
          <p:cNvSpPr>
            <a:spLocks noGrp="1"/>
          </p:cNvSpPr>
          <p:nvPr>
            <p:ph idx="1"/>
          </p:nvPr>
        </p:nvSpPr>
        <p:spPr/>
        <p:txBody>
          <a:bodyPr>
            <a:normAutofit/>
          </a:bodyPr>
          <a:lstStyle/>
          <a:p>
            <a:endParaRPr lang="en-US" sz="1000" dirty="0" smtClean="0"/>
          </a:p>
          <a:p>
            <a:endParaRPr lang="en-GB" sz="1000" dirty="0"/>
          </a:p>
        </p:txBody>
      </p:sp>
      <p:pic>
        <p:nvPicPr>
          <p:cNvPr id="4" name="Content Placeholder 3"/>
          <p:cNvPicPr>
            <a:picLocks/>
          </p:cNvPicPr>
          <p:nvPr/>
        </p:nvPicPr>
        <p:blipFill>
          <a:blip r:embed="rId2"/>
          <a:srcRect l="12518" t="5941" r="20218" b="8989"/>
          <a:stretch>
            <a:fillRect/>
          </a:stretch>
        </p:blipFill>
        <p:spPr bwMode="auto">
          <a:xfrm>
            <a:off x="1142976" y="1428736"/>
            <a:ext cx="6786610" cy="4357718"/>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928794" y="5643578"/>
            <a:ext cx="5486400" cy="804862"/>
          </a:xfrm>
        </p:spPr>
        <p:txBody>
          <a:bodyPr anchor="ctr">
            <a:normAutofit/>
          </a:bodyPr>
          <a:lstStyle/>
          <a:p>
            <a:pPr algn="ctr"/>
            <a:r>
              <a:rPr lang="en-US" sz="1800" b="1" dirty="0"/>
              <a:t>A demo link</a:t>
            </a:r>
            <a:endParaRPr lang="en-GB" sz="1800" b="1" dirty="0"/>
          </a:p>
        </p:txBody>
      </p:sp>
      <p:pic>
        <p:nvPicPr>
          <p:cNvPr id="6" name="Picture Placeholder 5"/>
          <p:cNvPicPr>
            <a:picLocks noGrp="1"/>
          </p:cNvPicPr>
          <p:nvPr>
            <p:ph type="pic" idx="1"/>
          </p:nvPr>
        </p:nvPicPr>
        <p:blipFill>
          <a:blip r:embed="rId2"/>
          <a:srcRect l="12518" t="6945" r="20131" b="7985"/>
          <a:stretch>
            <a:fillRect/>
          </a:stretch>
        </p:blipFill>
        <p:spPr bwMode="auto">
          <a:xfrm>
            <a:off x="1325216" y="1000108"/>
            <a:ext cx="6532932" cy="463932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714480" y="5357826"/>
            <a:ext cx="5486400" cy="804862"/>
          </a:xfrm>
        </p:spPr>
        <p:txBody>
          <a:bodyPr anchor="ctr">
            <a:normAutofit/>
          </a:bodyPr>
          <a:lstStyle/>
          <a:p>
            <a:pPr algn="ctr"/>
            <a:r>
              <a:rPr lang="en-US" sz="1800" b="1" dirty="0" err="1"/>
              <a:t>url</a:t>
            </a:r>
            <a:r>
              <a:rPr lang="en-US" sz="1800" b="1" dirty="0"/>
              <a:t> link</a:t>
            </a:r>
            <a:endParaRPr lang="en-GB" sz="1800" b="1" dirty="0"/>
          </a:p>
        </p:txBody>
      </p:sp>
      <p:pic>
        <p:nvPicPr>
          <p:cNvPr id="6" name="Picture Placeholder 5"/>
          <p:cNvPicPr>
            <a:picLocks noGrp="1"/>
          </p:cNvPicPr>
          <p:nvPr>
            <p:ph type="pic" idx="1"/>
          </p:nvPr>
        </p:nvPicPr>
        <p:blipFill>
          <a:blip r:embed="rId2"/>
          <a:srcRect l="12518" t="5941" r="20218" b="7253"/>
          <a:stretch>
            <a:fillRect/>
          </a:stretch>
        </p:blipFill>
        <p:spPr bwMode="auto">
          <a:xfrm>
            <a:off x="1468060" y="857232"/>
            <a:ext cx="6104336" cy="442915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00042"/>
            <a:ext cx="8229600" cy="2000256"/>
          </a:xfrm>
        </p:spPr>
        <p:txBody>
          <a:bodyPr>
            <a:noAutofit/>
          </a:bodyPr>
          <a:lstStyle/>
          <a:p>
            <a:pPr algn="l"/>
            <a:r>
              <a:rPr lang="en-US" sz="3600" b="1" dirty="0"/>
              <a:t>SQL Terminal</a:t>
            </a:r>
            <a:r>
              <a:rPr lang="en-US" sz="1800" dirty="0"/>
              <a:t/>
            </a:r>
            <a:br>
              <a:rPr lang="en-US" sz="1800" dirty="0"/>
            </a:br>
            <a:r>
              <a:rPr lang="en-US" sz="2000" dirty="0">
                <a:latin typeface="+mn-lt"/>
              </a:rPr>
              <a:t>Open the </a:t>
            </a:r>
            <a:r>
              <a:rPr lang="en-US" sz="2000" dirty="0" err="1">
                <a:latin typeface="+mn-lt"/>
              </a:rPr>
              <a:t>sqlmap</a:t>
            </a:r>
            <a:r>
              <a:rPr lang="en-US" sz="2000" dirty="0">
                <a:latin typeface="+mn-lt"/>
              </a:rPr>
              <a:t> terminal, and type </a:t>
            </a:r>
            <a:r>
              <a:rPr lang="en-US" sz="2000" dirty="0" err="1">
                <a:latin typeface="+mn-lt"/>
              </a:rPr>
              <a:t>sqlmap</a:t>
            </a:r>
            <a:r>
              <a:rPr lang="en-US" sz="2000" dirty="0">
                <a:latin typeface="+mn-lt"/>
              </a:rPr>
              <a:t> </a:t>
            </a:r>
            <a:r>
              <a:rPr lang="en-US" sz="2000" dirty="0" smtClean="0">
                <a:latin typeface="+mn-lt"/>
              </a:rPr>
              <a:t>–u </a:t>
            </a:r>
            <a:r>
              <a:rPr lang="en-US" sz="2000" dirty="0">
                <a:latin typeface="+mn-lt"/>
              </a:rPr>
              <a:t>then paste the link gotten from the website= 1 – </a:t>
            </a:r>
            <a:r>
              <a:rPr lang="en-US" sz="2000" dirty="0" err="1">
                <a:latin typeface="+mn-lt"/>
              </a:rPr>
              <a:t>dbs</a:t>
            </a:r>
            <a:r>
              <a:rPr lang="en-US" sz="2000" dirty="0">
                <a:latin typeface="+mn-lt"/>
              </a:rPr>
              <a:t>.</a:t>
            </a:r>
            <a:r>
              <a:rPr lang="en-GB" sz="2000" dirty="0">
                <a:latin typeface="+mn-lt"/>
              </a:rPr>
              <a:t/>
            </a:r>
            <a:br>
              <a:rPr lang="en-GB" sz="2000" dirty="0">
                <a:latin typeface="+mn-lt"/>
              </a:rPr>
            </a:br>
            <a:r>
              <a:rPr lang="en-US" sz="2000" b="1" dirty="0">
                <a:latin typeface="+mn-lt"/>
              </a:rPr>
              <a:t>Note</a:t>
            </a:r>
            <a:r>
              <a:rPr lang="en-US" sz="2000" dirty="0">
                <a:latin typeface="+mn-lt"/>
              </a:rPr>
              <a:t>: the aim is to find the name of the data base of this website and number of data base.</a:t>
            </a:r>
            <a:endParaRPr lang="en-GB" sz="2000" dirty="0">
              <a:latin typeface="+mn-lt"/>
            </a:endParaRPr>
          </a:p>
        </p:txBody>
      </p:sp>
      <p:pic>
        <p:nvPicPr>
          <p:cNvPr id="4" name="Content Placeholder 3"/>
          <p:cNvPicPr>
            <a:picLocks noGrp="1"/>
          </p:cNvPicPr>
          <p:nvPr>
            <p:ph idx="1"/>
          </p:nvPr>
        </p:nvPicPr>
        <p:blipFill>
          <a:blip r:embed="rId2"/>
          <a:srcRect t="6568" r="23052" b="7839"/>
          <a:stretch>
            <a:fillRect/>
          </a:stretch>
        </p:blipFill>
        <p:spPr bwMode="auto">
          <a:xfrm>
            <a:off x="1691680" y="2667754"/>
            <a:ext cx="5404458" cy="337989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071547"/>
            <a:ext cx="8229600" cy="1714511"/>
          </a:xfrm>
        </p:spPr>
        <p:txBody>
          <a:bodyPr>
            <a:normAutofit/>
          </a:bodyPr>
          <a:lstStyle/>
          <a:p>
            <a:pPr>
              <a:buFont typeface="Wingdings" pitchFamily="2" charset="2"/>
              <a:buChar char="Ø"/>
            </a:pPr>
            <a:r>
              <a:rPr lang="en-US" sz="2200" dirty="0"/>
              <a:t>This is saying that we have found the name of the database, and the database is </a:t>
            </a:r>
            <a:r>
              <a:rPr lang="en-US" sz="2200" b="1" dirty="0"/>
              <a:t>MYSQL 5.0.12</a:t>
            </a:r>
            <a:r>
              <a:rPr lang="en-US" sz="2200" dirty="0"/>
              <a:t>.</a:t>
            </a:r>
            <a:endParaRPr lang="en-GB" sz="2200" dirty="0"/>
          </a:p>
          <a:p>
            <a:pPr>
              <a:buFont typeface="Wingdings" pitchFamily="2" charset="2"/>
              <a:buChar char="Ø"/>
            </a:pPr>
            <a:r>
              <a:rPr lang="en-US" sz="2200" dirty="0"/>
              <a:t>We also got two database,</a:t>
            </a:r>
            <a:r>
              <a:rPr lang="en-GB" sz="2200" dirty="0"/>
              <a:t> </a:t>
            </a:r>
            <a:r>
              <a:rPr lang="en-US" sz="2200" b="1" i="1" dirty="0" err="1"/>
              <a:t>Acuart</a:t>
            </a:r>
            <a:r>
              <a:rPr lang="en-US" sz="2200" b="1" i="1" dirty="0"/>
              <a:t> and information Schema.</a:t>
            </a:r>
            <a:endParaRPr lang="en-US" sz="2200" dirty="0"/>
          </a:p>
        </p:txBody>
      </p:sp>
      <p:pic>
        <p:nvPicPr>
          <p:cNvPr id="5" name="Picture 4"/>
          <p:cNvPicPr/>
          <p:nvPr/>
        </p:nvPicPr>
        <p:blipFill>
          <a:blip r:embed="rId2"/>
          <a:srcRect t="6568" r="23033" b="8475"/>
          <a:stretch>
            <a:fillRect/>
          </a:stretch>
        </p:blipFill>
        <p:spPr bwMode="auto">
          <a:xfrm>
            <a:off x="1539219" y="2692889"/>
            <a:ext cx="5675987" cy="352219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3"/>
            <a:ext cx="8229600" cy="1500198"/>
          </a:xfrm>
        </p:spPr>
        <p:txBody>
          <a:bodyPr/>
          <a:lstStyle/>
          <a:p>
            <a:pPr>
              <a:buFont typeface="Wingdings" pitchFamily="2" charset="2"/>
              <a:buChar char="Ø"/>
            </a:pPr>
            <a:r>
              <a:rPr lang="en-US" sz="2400" dirty="0"/>
              <a:t>Next is to get information from the </a:t>
            </a:r>
            <a:r>
              <a:rPr lang="en-US" sz="2400" dirty="0" err="1"/>
              <a:t>acuart</a:t>
            </a:r>
            <a:r>
              <a:rPr lang="en-US" sz="2400" dirty="0"/>
              <a:t> database, the first thing we need to find is the number of tables inside </a:t>
            </a:r>
            <a:r>
              <a:rPr lang="en-US" sz="2400" dirty="0" err="1"/>
              <a:t>acuart</a:t>
            </a:r>
            <a:r>
              <a:rPr lang="en-US" sz="2400" dirty="0"/>
              <a:t> database.</a:t>
            </a:r>
            <a:endParaRPr lang="en-GB" sz="2400" dirty="0"/>
          </a:p>
        </p:txBody>
      </p:sp>
      <p:pic>
        <p:nvPicPr>
          <p:cNvPr id="5" name="Picture 4"/>
          <p:cNvPicPr/>
          <p:nvPr/>
        </p:nvPicPr>
        <p:blipFill>
          <a:blip r:embed="rId2"/>
          <a:srcRect t="6356" r="22199" b="9083"/>
          <a:stretch>
            <a:fillRect/>
          </a:stretch>
        </p:blipFill>
        <p:spPr bwMode="auto">
          <a:xfrm>
            <a:off x="1643042" y="2500306"/>
            <a:ext cx="5743471" cy="350943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614353"/>
          </a:xfrm>
        </p:spPr>
        <p:txBody>
          <a:bodyPr>
            <a:normAutofit/>
          </a:bodyPr>
          <a:lstStyle/>
          <a:p>
            <a:pPr>
              <a:buNone/>
            </a:pPr>
            <a:r>
              <a:rPr lang="en-US" sz="2400" dirty="0"/>
              <a:t>In the </a:t>
            </a:r>
            <a:r>
              <a:rPr lang="en-US" sz="2400" b="1" i="1" dirty="0" err="1"/>
              <a:t>acuart</a:t>
            </a:r>
            <a:r>
              <a:rPr lang="en-US" sz="2400" b="1" i="1" dirty="0"/>
              <a:t> database </a:t>
            </a:r>
            <a:r>
              <a:rPr lang="en-US" sz="2400" dirty="0"/>
              <a:t>below, there are 8 tables.</a:t>
            </a:r>
          </a:p>
        </p:txBody>
      </p:sp>
      <p:pic>
        <p:nvPicPr>
          <p:cNvPr id="4" name="Picture 3"/>
          <p:cNvPicPr/>
          <p:nvPr/>
        </p:nvPicPr>
        <p:blipFill>
          <a:blip r:embed="rId2"/>
          <a:srcRect t="6356" r="22199" b="8475"/>
          <a:stretch>
            <a:fillRect/>
          </a:stretch>
        </p:blipFill>
        <p:spPr bwMode="auto">
          <a:xfrm>
            <a:off x="1500166" y="2500306"/>
            <a:ext cx="5715040" cy="351717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000108"/>
            <a:ext cx="8229600" cy="1000132"/>
          </a:xfrm>
        </p:spPr>
        <p:txBody>
          <a:bodyPr>
            <a:normAutofit/>
          </a:bodyPr>
          <a:lstStyle/>
          <a:p>
            <a:pPr>
              <a:buFont typeface="Wingdings" pitchFamily="2" charset="2"/>
              <a:buChar char="Ø"/>
            </a:pPr>
            <a:r>
              <a:rPr lang="en-US" sz="2400" dirty="0"/>
              <a:t>Next is to find what the username is and the number of </a:t>
            </a:r>
          </a:p>
          <a:p>
            <a:pPr>
              <a:buNone/>
            </a:pPr>
            <a:r>
              <a:rPr lang="en-US" sz="2400" dirty="0"/>
              <a:t>columns in the users table.</a:t>
            </a:r>
          </a:p>
        </p:txBody>
      </p:sp>
      <p:pic>
        <p:nvPicPr>
          <p:cNvPr id="4" name="Picture 3"/>
          <p:cNvPicPr/>
          <p:nvPr/>
        </p:nvPicPr>
        <p:blipFill>
          <a:blip r:embed="rId2"/>
          <a:srcRect t="6356" r="23033" b="7839"/>
          <a:stretch>
            <a:fillRect/>
          </a:stretch>
        </p:blipFill>
        <p:spPr bwMode="auto">
          <a:xfrm>
            <a:off x="1509178" y="2285992"/>
            <a:ext cx="5777466" cy="3620928"/>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857233"/>
            <a:ext cx="8229600" cy="1428760"/>
          </a:xfrm>
        </p:spPr>
        <p:txBody>
          <a:bodyPr/>
          <a:lstStyle/>
          <a:p>
            <a:pPr>
              <a:buNone/>
            </a:pPr>
            <a:r>
              <a:rPr lang="en-US" sz="2400" b="1" dirty="0"/>
              <a:t>Table</a:t>
            </a:r>
            <a:r>
              <a:rPr lang="en-US" sz="2400" dirty="0"/>
              <a:t>: users </a:t>
            </a:r>
            <a:endParaRPr lang="en-GB" sz="2400" dirty="0"/>
          </a:p>
          <a:p>
            <a:pPr>
              <a:buNone/>
            </a:pPr>
            <a:r>
              <a:rPr lang="en-US" sz="2400" dirty="0"/>
              <a:t>Inside users, we have [8 columns] </a:t>
            </a:r>
            <a:endParaRPr lang="en-GB" sz="2400" dirty="0"/>
          </a:p>
        </p:txBody>
      </p:sp>
      <p:pic>
        <p:nvPicPr>
          <p:cNvPr id="4" name="Picture 3"/>
          <p:cNvPicPr/>
          <p:nvPr/>
        </p:nvPicPr>
        <p:blipFill>
          <a:blip r:embed="rId2"/>
          <a:srcRect t="6568" r="22199" b="7600"/>
          <a:stretch>
            <a:fillRect/>
          </a:stretch>
        </p:blipFill>
        <p:spPr bwMode="auto">
          <a:xfrm>
            <a:off x="1500166" y="2285992"/>
            <a:ext cx="6104676" cy="3786214"/>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857232"/>
            <a:ext cx="8229600" cy="1500198"/>
          </a:xfrm>
        </p:spPr>
        <p:txBody>
          <a:bodyPr>
            <a:normAutofit/>
          </a:bodyPr>
          <a:lstStyle/>
          <a:p>
            <a:pPr>
              <a:buFont typeface="Wingdings" pitchFamily="2" charset="2"/>
              <a:buChar char="Ø"/>
            </a:pPr>
            <a:r>
              <a:rPr lang="en-US" sz="2000" dirty="0"/>
              <a:t>Next is to find information about the “</a:t>
            </a:r>
            <a:r>
              <a:rPr lang="en-US" sz="2000" dirty="0" err="1"/>
              <a:t>uname</a:t>
            </a:r>
            <a:r>
              <a:rPr lang="en-US" sz="2000" dirty="0"/>
              <a:t>”.</a:t>
            </a:r>
            <a:endParaRPr lang="en-GB" sz="2000" dirty="0"/>
          </a:p>
          <a:p>
            <a:pPr>
              <a:buNone/>
            </a:pPr>
            <a:r>
              <a:rPr lang="en-US" sz="2000" b="1" dirty="0"/>
              <a:t>Note: </a:t>
            </a:r>
            <a:r>
              <a:rPr lang="en-US" sz="2000" dirty="0"/>
              <a:t>The reason we put the dump is to extract information </a:t>
            </a:r>
          </a:p>
          <a:p>
            <a:pPr>
              <a:buNone/>
            </a:pPr>
            <a:r>
              <a:rPr lang="en-US" sz="2000" dirty="0"/>
              <a:t>from the user name.</a:t>
            </a:r>
            <a:endParaRPr lang="en-GB" sz="2000" dirty="0"/>
          </a:p>
        </p:txBody>
      </p:sp>
      <p:pic>
        <p:nvPicPr>
          <p:cNvPr id="4" name="Picture 3"/>
          <p:cNvPicPr/>
          <p:nvPr/>
        </p:nvPicPr>
        <p:blipFill>
          <a:blip r:embed="rId2"/>
          <a:srcRect t="6992" r="22266" b="7626"/>
          <a:stretch>
            <a:fillRect/>
          </a:stretch>
        </p:blipFill>
        <p:spPr bwMode="auto">
          <a:xfrm>
            <a:off x="1357290" y="2357430"/>
            <a:ext cx="5959290" cy="367874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 xmlns:a16="http://schemas.microsoft.com/office/drawing/2014/main" id="{979E27D9-03C7-44E2-9FF8-15D0C8506A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52297" y="2418408"/>
            <a:ext cx="3719703" cy="3522569"/>
          </a:xfrm>
        </p:spPr>
        <p:txBody>
          <a:bodyPr anchor="t">
            <a:normAutofit/>
          </a:bodyPr>
          <a:lstStyle/>
          <a:p>
            <a:pPr>
              <a:buFont typeface="Wingdings" pitchFamily="2" charset="2"/>
              <a:buChar char="Ø"/>
            </a:pPr>
            <a:r>
              <a:rPr lang="en-US" sz="1700"/>
              <a:t>It has provided us with the user name information.</a:t>
            </a:r>
            <a:endParaRPr lang="en-GB" sz="1700"/>
          </a:p>
          <a:p>
            <a:pPr>
              <a:buFont typeface="Wingdings" pitchFamily="2" charset="2"/>
              <a:buChar char="Ø"/>
            </a:pPr>
            <a:r>
              <a:rPr lang="en-US" sz="1700"/>
              <a:t>The user name is” test”.</a:t>
            </a:r>
            <a:endParaRPr lang="en-GB" sz="1700"/>
          </a:p>
          <a:p>
            <a:endParaRPr lang="en-GB" sz="1700"/>
          </a:p>
        </p:txBody>
      </p:sp>
      <p:pic>
        <p:nvPicPr>
          <p:cNvPr id="4" name="Picture 3"/>
          <p:cNvPicPr/>
          <p:nvPr/>
        </p:nvPicPr>
        <p:blipFill>
          <a:blip r:embed="rId2"/>
          <a:srcRect t="6144" r="22289" b="8051"/>
          <a:stretch>
            <a:fillRect/>
          </a:stretch>
        </p:blipFill>
        <p:spPr bwMode="auto">
          <a:xfrm>
            <a:off x="4390936" y="1989042"/>
            <a:ext cx="3900767" cy="2422716"/>
          </a:xfrm>
          <a:prstGeom prst="rect">
            <a:avLst/>
          </a:prstGeom>
          <a:noFill/>
        </p:spPr>
      </p:pic>
      <p:sp>
        <p:nvSpPr>
          <p:cNvPr id="20" name="Rectangle 19">
            <a:extLst>
              <a:ext uri="{FF2B5EF4-FFF2-40B4-BE49-F238E27FC236}">
                <a16:creationId xmlns="" xmlns:a16="http://schemas.microsoft.com/office/drawing/2014/main" id="{EEBF1590-3B36-48EE-A89D-3B6F3CB256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 xmlns:a16="http://schemas.microsoft.com/office/drawing/2014/main" id="{AC8F6C8C-AB5A-4548-942D-E3FD40ACBC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131BAD53-4E89-4F62-BBB7-26359763ED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 xmlns:a16="http://schemas.microsoft.com/office/drawing/2014/main" id="{62756DA2-40EB-4C6F-B962-5822FFB54FB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46774" y="2194102"/>
            <a:ext cx="2570251" cy="3908586"/>
          </a:xfrm>
        </p:spPr>
        <p:txBody>
          <a:bodyPr>
            <a:normAutofit/>
          </a:bodyPr>
          <a:lstStyle/>
          <a:p>
            <a:pPr>
              <a:buFont typeface="Wingdings" pitchFamily="2" charset="2"/>
              <a:buChar char="Ø"/>
            </a:pPr>
            <a:r>
              <a:rPr lang="en-US" sz="1700"/>
              <a:t>We can continue with other columns by editing  uname to pass.</a:t>
            </a:r>
          </a:p>
          <a:p>
            <a:endParaRPr lang="en-GB" sz="1700"/>
          </a:p>
        </p:txBody>
      </p:sp>
      <p:pic>
        <p:nvPicPr>
          <p:cNvPr id="5" name="Picture 4"/>
          <p:cNvPicPr/>
          <p:nvPr/>
        </p:nvPicPr>
        <p:blipFill>
          <a:blip r:embed="rId2"/>
          <a:srcRect t="6568" r="22980" b="7839"/>
          <a:stretch>
            <a:fillRect/>
          </a:stretch>
        </p:blipFill>
        <p:spPr bwMode="auto">
          <a:xfrm>
            <a:off x="3896846" y="2060848"/>
            <a:ext cx="4616356" cy="2885734"/>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857232"/>
            <a:ext cx="8229600" cy="614353"/>
          </a:xfrm>
        </p:spPr>
        <p:txBody>
          <a:bodyPr/>
          <a:lstStyle/>
          <a:p>
            <a:pPr>
              <a:buFont typeface="Wingdings" pitchFamily="2" charset="2"/>
              <a:buChar char="Ø"/>
            </a:pPr>
            <a:r>
              <a:rPr lang="en-US" sz="2400" dirty="0"/>
              <a:t>Here we have our information for pass as “test”.</a:t>
            </a:r>
            <a:endParaRPr lang="en-GB" sz="2400" dirty="0"/>
          </a:p>
        </p:txBody>
      </p:sp>
      <p:pic>
        <p:nvPicPr>
          <p:cNvPr id="4" name="Picture 3"/>
          <p:cNvPicPr/>
          <p:nvPr/>
        </p:nvPicPr>
        <p:blipFill>
          <a:blip r:embed="rId2"/>
          <a:srcRect t="6568" r="22933" b="8047"/>
          <a:stretch>
            <a:fillRect/>
          </a:stretch>
        </p:blipFill>
        <p:spPr bwMode="auto">
          <a:xfrm>
            <a:off x="1428728" y="1928802"/>
            <a:ext cx="5929354" cy="369224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857232"/>
            <a:ext cx="8229600" cy="542915"/>
          </a:xfrm>
        </p:spPr>
        <p:txBody>
          <a:bodyPr/>
          <a:lstStyle/>
          <a:p>
            <a:pPr>
              <a:buFont typeface="Wingdings" pitchFamily="2" charset="2"/>
              <a:buChar char="Ø"/>
            </a:pPr>
            <a:r>
              <a:rPr lang="en-US" sz="2400" dirty="0"/>
              <a:t>We can also get information from email and etc.</a:t>
            </a:r>
          </a:p>
          <a:p>
            <a:endParaRPr lang="en-GB" dirty="0"/>
          </a:p>
        </p:txBody>
      </p:sp>
      <p:pic>
        <p:nvPicPr>
          <p:cNvPr id="4" name="Picture 3"/>
          <p:cNvPicPr/>
          <p:nvPr/>
        </p:nvPicPr>
        <p:blipFill>
          <a:blip r:embed="rId2"/>
          <a:srcRect t="6780" r="22936" b="7361"/>
          <a:stretch>
            <a:fillRect/>
          </a:stretch>
        </p:blipFill>
        <p:spPr bwMode="auto">
          <a:xfrm>
            <a:off x="1571603" y="1928802"/>
            <a:ext cx="5929201" cy="3714776"/>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GB" dirty="0"/>
          </a:p>
        </p:txBody>
      </p:sp>
      <p:pic>
        <p:nvPicPr>
          <p:cNvPr id="4" name="Picture 3"/>
          <p:cNvPicPr/>
          <p:nvPr/>
        </p:nvPicPr>
        <p:blipFill>
          <a:blip r:embed="rId2"/>
          <a:srcRect t="4661" r="22914" b="8235"/>
          <a:stretch>
            <a:fillRect/>
          </a:stretch>
        </p:blipFill>
        <p:spPr bwMode="auto">
          <a:xfrm>
            <a:off x="1428728" y="1357298"/>
            <a:ext cx="5919362" cy="376021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8B068B58-6F94-4AFF-A8A7-18573884D6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BE5B028C-7535-45E5-9D2C-32C50D0E0E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Content Placeholder 2"/>
          <p:cNvSpPr>
            <a:spLocks noGrp="1"/>
          </p:cNvSpPr>
          <p:nvPr>
            <p:ph idx="1"/>
          </p:nvPr>
        </p:nvSpPr>
        <p:spPr>
          <a:xfrm>
            <a:off x="893974" y="2965593"/>
            <a:ext cx="3747892" cy="2941544"/>
          </a:xfrm>
        </p:spPr>
        <p:txBody>
          <a:bodyPr>
            <a:normAutofit/>
          </a:bodyPr>
          <a:lstStyle/>
          <a:p>
            <a:endParaRPr lang="en-US" sz="1600"/>
          </a:p>
          <a:p>
            <a:endParaRPr lang="en-US" sz="1600"/>
          </a:p>
          <a:p>
            <a:endParaRPr lang="en-GB" sz="1600"/>
          </a:p>
        </p:txBody>
      </p:sp>
      <p:pic>
        <p:nvPicPr>
          <p:cNvPr id="4" name="Picture 3"/>
          <p:cNvPicPr/>
          <p:nvPr/>
        </p:nvPicPr>
        <p:blipFill>
          <a:blip r:embed="rId3"/>
          <a:srcRect t="6213" r="17918" b="5917"/>
          <a:stretch>
            <a:fillRect/>
          </a:stretch>
        </p:blipFill>
        <p:spPr bwMode="auto">
          <a:xfrm>
            <a:off x="2290465" y="2132856"/>
            <a:ext cx="4185367" cy="252028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 xmlns:a16="http://schemas.microsoft.com/office/drawing/2014/main" id="{8B068B58-6F94-4AFF-A8A7-18573884D6C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22" name="Rectangle 21">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BE5B028C-7535-45E5-9D2C-32C50D0E0E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Content Placeholder 2"/>
          <p:cNvSpPr>
            <a:spLocks noGrp="1"/>
          </p:cNvSpPr>
          <p:nvPr>
            <p:ph idx="1"/>
          </p:nvPr>
        </p:nvSpPr>
        <p:spPr>
          <a:xfrm>
            <a:off x="893974" y="2965593"/>
            <a:ext cx="3747892" cy="2941544"/>
          </a:xfrm>
        </p:spPr>
        <p:txBody>
          <a:bodyPr>
            <a:normAutofit/>
          </a:bodyPr>
          <a:lstStyle/>
          <a:p>
            <a:endParaRPr lang="en-US" sz="1600"/>
          </a:p>
          <a:p>
            <a:endParaRPr lang="en-US" sz="1600"/>
          </a:p>
          <a:p>
            <a:endParaRPr lang="en-GB" sz="1600"/>
          </a:p>
        </p:txBody>
      </p:sp>
      <p:pic>
        <p:nvPicPr>
          <p:cNvPr id="4" name="Picture 3"/>
          <p:cNvPicPr/>
          <p:nvPr/>
        </p:nvPicPr>
        <p:blipFill>
          <a:blip r:embed="rId3" cstate="print"/>
          <a:srcRect t="4438" r="17970" b="5621"/>
          <a:stretch>
            <a:fillRect/>
          </a:stretch>
        </p:blipFill>
        <p:spPr bwMode="auto">
          <a:xfrm>
            <a:off x="4931805" y="2293526"/>
            <a:ext cx="3667932" cy="2262188"/>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E449F6AE-9CCD-4344-A808-E058C70E9FB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 xmlns:a16="http://schemas.microsoft.com/office/drawing/2014/main" id="{0D285EBD-BD23-45C3-A289-F87F04DBCF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0"/>
            <a:ext cx="9143999" cy="6858002"/>
          </a:xfrm>
          <a:custGeom>
            <a:avLst/>
            <a:gdLst>
              <a:gd name="connsiteX0" fmla="*/ 4461598 w 12192000"/>
              <a:gd name="connsiteY0" fmla="*/ 0 h 6858002"/>
              <a:gd name="connsiteX1" fmla="*/ 4525606 w 12192000"/>
              <a:gd name="connsiteY1" fmla="*/ 0 h 6858002"/>
              <a:gd name="connsiteX2" fmla="*/ 4525606 w 12192000"/>
              <a:gd name="connsiteY2" fmla="*/ 539937 h 6858002"/>
              <a:gd name="connsiteX3" fmla="*/ 12192000 w 12192000"/>
              <a:gd name="connsiteY3" fmla="*/ 539937 h 6858002"/>
              <a:gd name="connsiteX4" fmla="*/ 12192000 w 12192000"/>
              <a:gd name="connsiteY4" fmla="*/ 603945 h 6858002"/>
              <a:gd name="connsiteX5" fmla="*/ 4525606 w 12192000"/>
              <a:gd name="connsiteY5" fmla="*/ 603945 h 6858002"/>
              <a:gd name="connsiteX6" fmla="*/ 4525606 w 12192000"/>
              <a:gd name="connsiteY6" fmla="*/ 6254055 h 6858002"/>
              <a:gd name="connsiteX7" fmla="*/ 12192000 w 12192000"/>
              <a:gd name="connsiteY7" fmla="*/ 6254055 h 6858002"/>
              <a:gd name="connsiteX8" fmla="*/ 12192000 w 12192000"/>
              <a:gd name="connsiteY8" fmla="*/ 6318063 h 6858002"/>
              <a:gd name="connsiteX9" fmla="*/ 4525606 w 12192000"/>
              <a:gd name="connsiteY9" fmla="*/ 6318063 h 6858002"/>
              <a:gd name="connsiteX10" fmla="*/ 4525606 w 12192000"/>
              <a:gd name="connsiteY10" fmla="*/ 6858002 h 6858002"/>
              <a:gd name="connsiteX11" fmla="*/ 4461598 w 12192000"/>
              <a:gd name="connsiteY11" fmla="*/ 6858002 h 6858002"/>
              <a:gd name="connsiteX12" fmla="*/ 4461598 w 12192000"/>
              <a:gd name="connsiteY12" fmla="*/ 6318063 h 6858002"/>
              <a:gd name="connsiteX13" fmla="*/ 2 w 12192000"/>
              <a:gd name="connsiteY13" fmla="*/ 6318063 h 6858002"/>
              <a:gd name="connsiteX14" fmla="*/ 0 w 12192000"/>
              <a:gd name="connsiteY14" fmla="*/ 6318063 h 6858002"/>
              <a:gd name="connsiteX15" fmla="*/ 0 w 12192000"/>
              <a:gd name="connsiteY15" fmla="*/ 6254055 h 6858002"/>
              <a:gd name="connsiteX16" fmla="*/ 2 w 12192000"/>
              <a:gd name="connsiteY16" fmla="*/ 6254055 h 6858002"/>
              <a:gd name="connsiteX17" fmla="*/ 2 w 12192000"/>
              <a:gd name="connsiteY17" fmla="*/ 603945 h 6858002"/>
              <a:gd name="connsiteX18" fmla="*/ 1 w 12192000"/>
              <a:gd name="connsiteY18" fmla="*/ 603945 h 6858002"/>
              <a:gd name="connsiteX19" fmla="*/ 1 w 12192000"/>
              <a:gd name="connsiteY19" fmla="*/ 539937 h 6858002"/>
              <a:gd name="connsiteX20" fmla="*/ 2 w 12192000"/>
              <a:gd name="connsiteY20" fmla="*/ 539937 h 6858002"/>
              <a:gd name="connsiteX21" fmla="*/ 4461598 w 12192000"/>
              <a:gd name="connsiteY21" fmla="*/ 53993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6858002">
                <a:moveTo>
                  <a:pt x="4461598" y="0"/>
                </a:moveTo>
                <a:lnTo>
                  <a:pt x="4525606" y="0"/>
                </a:lnTo>
                <a:lnTo>
                  <a:pt x="4525606" y="539937"/>
                </a:lnTo>
                <a:lnTo>
                  <a:pt x="12192000" y="539937"/>
                </a:lnTo>
                <a:lnTo>
                  <a:pt x="12192000" y="603945"/>
                </a:lnTo>
                <a:lnTo>
                  <a:pt x="4525606" y="603945"/>
                </a:lnTo>
                <a:lnTo>
                  <a:pt x="4525606" y="6254055"/>
                </a:lnTo>
                <a:lnTo>
                  <a:pt x="12192000" y="6254055"/>
                </a:lnTo>
                <a:lnTo>
                  <a:pt x="12192000" y="6318063"/>
                </a:lnTo>
                <a:lnTo>
                  <a:pt x="4525606" y="6318063"/>
                </a:lnTo>
                <a:lnTo>
                  <a:pt x="4525606" y="6858002"/>
                </a:lnTo>
                <a:lnTo>
                  <a:pt x="4461598" y="6858002"/>
                </a:lnTo>
                <a:lnTo>
                  <a:pt x="4461598" y="6318063"/>
                </a:lnTo>
                <a:lnTo>
                  <a:pt x="2" y="6318063"/>
                </a:lnTo>
                <a:lnTo>
                  <a:pt x="0" y="6318063"/>
                </a:lnTo>
                <a:lnTo>
                  <a:pt x="0" y="6254055"/>
                </a:lnTo>
                <a:lnTo>
                  <a:pt x="2" y="6254055"/>
                </a:lnTo>
                <a:lnTo>
                  <a:pt x="2" y="603945"/>
                </a:lnTo>
                <a:lnTo>
                  <a:pt x="1" y="603945"/>
                </a:lnTo>
                <a:lnTo>
                  <a:pt x="1" y="539937"/>
                </a:lnTo>
                <a:lnTo>
                  <a:pt x="2" y="539937"/>
                </a:lnTo>
                <a:lnTo>
                  <a:pt x="4461598" y="539937"/>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2854" y="1458180"/>
            <a:ext cx="2325391" cy="3941640"/>
          </a:xfrm>
        </p:spPr>
        <p:txBody>
          <a:bodyPr>
            <a:normAutofit/>
          </a:bodyPr>
          <a:lstStyle/>
          <a:p>
            <a:pPr algn="r"/>
            <a:r>
              <a:rPr lang="en-US" sz="2400" b="1">
                <a:solidFill>
                  <a:schemeClr val="bg1"/>
                </a:solidFill>
              </a:rPr>
              <a:t>Question 2a</a:t>
            </a:r>
            <a:endParaRPr lang="en-GB" sz="2400">
              <a:solidFill>
                <a:schemeClr val="bg1"/>
              </a:solidFill>
            </a:endParaRPr>
          </a:p>
        </p:txBody>
      </p:sp>
      <p:sp>
        <p:nvSpPr>
          <p:cNvPr id="3" name="Content Placeholder 2"/>
          <p:cNvSpPr>
            <a:spLocks noGrp="1"/>
          </p:cNvSpPr>
          <p:nvPr>
            <p:ph idx="1"/>
          </p:nvPr>
        </p:nvSpPr>
        <p:spPr>
          <a:xfrm>
            <a:off x="680438" y="1458180"/>
            <a:ext cx="4341681" cy="3941640"/>
          </a:xfrm>
        </p:spPr>
        <p:txBody>
          <a:bodyPr anchor="ctr">
            <a:normAutofit/>
          </a:bodyPr>
          <a:lstStyle/>
          <a:p>
            <a:pPr>
              <a:lnSpc>
                <a:spcPct val="90000"/>
              </a:lnSpc>
              <a:buFont typeface="Wingdings" pitchFamily="2" charset="2"/>
              <a:buChar char="Ø"/>
            </a:pPr>
            <a:r>
              <a:rPr lang="en-US" sz="1400" dirty="0"/>
              <a:t>Explain the concept of SQL injection and the various types showing examples.</a:t>
            </a:r>
          </a:p>
          <a:p>
            <a:pPr>
              <a:lnSpc>
                <a:spcPct val="90000"/>
              </a:lnSpc>
              <a:buNone/>
            </a:pPr>
            <a:endParaRPr lang="en-GB" sz="1400" dirty="0"/>
          </a:p>
          <a:p>
            <a:pPr>
              <a:lnSpc>
                <a:spcPct val="90000"/>
              </a:lnSpc>
              <a:buNone/>
            </a:pPr>
            <a:r>
              <a:rPr lang="en-US" sz="1400" b="1" dirty="0"/>
              <a:t>Answer</a:t>
            </a:r>
            <a:endParaRPr lang="en-GB" sz="1400" b="1" dirty="0"/>
          </a:p>
          <a:p>
            <a:endParaRPr lang="en-GB" sz="1400" dirty="0" smtClean="0"/>
          </a:p>
          <a:p>
            <a:r>
              <a:rPr lang="en-GB" sz="1400" dirty="0" smtClean="0"/>
              <a:t> </a:t>
            </a:r>
            <a:r>
              <a:rPr lang="en-GB" sz="1400" b="1" dirty="0" smtClean="0"/>
              <a:t>SQL Injection: </a:t>
            </a:r>
          </a:p>
          <a:p>
            <a:r>
              <a:rPr lang="en-GB" sz="1400" dirty="0" smtClean="0"/>
              <a:t>SQL injection is an injection attack that allows an attacker to retrieve and modify, or delete data from the Database due to improper input validation this vulnerability occurs. </a:t>
            </a:r>
            <a:endParaRPr lang="en-US" sz="1400"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US" dirty="0" smtClean="0"/>
          </a:p>
          <a:p>
            <a:endParaRPr lang="en-GB" sz="1800" dirty="0" smtClean="0"/>
          </a:p>
          <a:p>
            <a:r>
              <a:rPr lang="en-GB" sz="1800" dirty="0" smtClean="0"/>
              <a:t> </a:t>
            </a:r>
            <a:r>
              <a:rPr lang="en-GB" sz="1800" b="1" dirty="0" smtClean="0"/>
              <a:t>Types of SQL : </a:t>
            </a:r>
          </a:p>
          <a:p>
            <a:r>
              <a:rPr lang="en-GB" sz="1800" dirty="0" smtClean="0"/>
              <a:t>In Band SQL — has two types ( </a:t>
            </a:r>
            <a:r>
              <a:rPr lang="en-GB" sz="1800" b="1" dirty="0" smtClean="0"/>
              <a:t>1. Error Based and 2. Union Based ) </a:t>
            </a:r>
          </a:p>
          <a:p>
            <a:endParaRPr lang="en-GB" sz="1800" dirty="0" smtClean="0"/>
          </a:p>
          <a:p>
            <a:r>
              <a:rPr lang="en-GB" sz="1800" dirty="0" smtClean="0"/>
              <a:t>2. Inferential SQL or Blind SQL —has two types ( </a:t>
            </a:r>
            <a:r>
              <a:rPr lang="en-GB" sz="1800" b="1" dirty="0" smtClean="0"/>
              <a:t>1. Boolean Based and 2. Time-Based) </a:t>
            </a:r>
          </a:p>
          <a:p>
            <a:r>
              <a:rPr lang="en-GB" sz="1800" dirty="0" smtClean="0"/>
              <a:t>3. Out-band SQL </a:t>
            </a:r>
          </a:p>
          <a:p>
            <a:r>
              <a:rPr lang="en-GB" sz="1800" b="1" dirty="0" smtClean="0"/>
              <a:t>In-band SQL injection </a:t>
            </a:r>
            <a:r>
              <a:rPr lang="en-GB" sz="1800" dirty="0" smtClean="0"/>
              <a:t>is a type of SQL injection where the attacker receives the result as a direct response using the same communication channel. </a:t>
            </a:r>
          </a:p>
          <a:p>
            <a:r>
              <a:rPr lang="en-GB" sz="1800" dirty="0" smtClean="0"/>
              <a:t>For example, if the attacker performs the attack manually using a web browser, the result of the attack will be displayed in the same web browser. In-band SQL injection is also called classic SQL injection. </a:t>
            </a:r>
            <a:endParaRPr lang="en-GB"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sz="2000" b="1" dirty="0" smtClean="0"/>
              <a:t>Error-based SQL injection</a:t>
            </a:r>
            <a:r>
              <a:rPr lang="en-GB" sz="2000" dirty="0" smtClean="0"/>
              <a:t> is a subtype of “in-band SQL injection” where the result returned to the attacker is a database error string. </a:t>
            </a:r>
          </a:p>
          <a:p>
            <a:r>
              <a:rPr lang="en-GB" sz="2000" dirty="0" smtClean="0"/>
              <a:t>How to Find? </a:t>
            </a:r>
          </a:p>
          <a:p>
            <a:r>
              <a:rPr lang="en-GB" sz="2000" b="1" dirty="0" smtClean="0"/>
              <a:t>Example of error-based SQL injection: </a:t>
            </a:r>
          </a:p>
          <a:p>
            <a:r>
              <a:rPr lang="en-GB" sz="2000" dirty="0" smtClean="0"/>
              <a:t>Let’s say we have the same query as in the example: </a:t>
            </a:r>
          </a:p>
          <a:p>
            <a:r>
              <a:rPr lang="en-GB" sz="2000" dirty="0" smtClean="0"/>
              <a:t>SELECT * FROM users WHERE </a:t>
            </a:r>
            <a:r>
              <a:rPr lang="en-GB" sz="2000" dirty="0" err="1" smtClean="0"/>
              <a:t>user_id</a:t>
            </a:r>
            <a:r>
              <a:rPr lang="en-GB" sz="2000" dirty="0" smtClean="0"/>
              <a:t> = '</a:t>
            </a:r>
            <a:r>
              <a:rPr lang="en-GB" sz="2000" dirty="0" err="1" smtClean="0"/>
              <a:t>current_user</a:t>
            </a:r>
            <a:r>
              <a:rPr lang="en-GB" sz="2000" dirty="0" smtClean="0"/>
              <a:t>' </a:t>
            </a:r>
          </a:p>
          <a:p>
            <a:r>
              <a:rPr lang="en-GB" sz="2000" dirty="0" smtClean="0"/>
              <a:t>A malicious hacker may provide the following current user value:</a:t>
            </a:r>
            <a:r>
              <a:rPr lang="en-GB" sz="2000" b="1" i="1" dirty="0" smtClean="0"/>
              <a:t> </a:t>
            </a:r>
          </a:p>
          <a:p>
            <a:r>
              <a:rPr lang="en-GB" sz="2000" dirty="0" smtClean="0"/>
              <a:t>1' </a:t>
            </a:r>
          </a:p>
          <a:p>
            <a:r>
              <a:rPr lang="en-GB" sz="2000" dirty="0" smtClean="0"/>
              <a:t>As a result, the query becomes: </a:t>
            </a:r>
          </a:p>
          <a:p>
            <a:r>
              <a:rPr lang="en-GB" sz="2000" dirty="0" smtClean="0"/>
              <a:t>SELECT * FROM users WHERE </a:t>
            </a:r>
            <a:r>
              <a:rPr lang="en-GB" sz="2000" dirty="0" err="1" smtClean="0"/>
              <a:t>user_id</a:t>
            </a:r>
            <a:r>
              <a:rPr lang="en-GB" sz="2000" dirty="0" smtClean="0"/>
              <a:t> = '1'' </a:t>
            </a:r>
          </a:p>
          <a:p>
            <a:r>
              <a:rPr lang="en-GB" sz="2000" dirty="0" smtClean="0"/>
              <a:t>The double single quote at the end of the query causes the database to report an error. If the web server is configured to display errors on screen, the attacker may see a message such as the following: </a:t>
            </a:r>
          </a:p>
          <a:p>
            <a:r>
              <a:rPr lang="en-GB" sz="2000" dirty="0" smtClean="0"/>
              <a:t>You have an error in your SQL syntax; check the manual that corresponds to your </a:t>
            </a:r>
            <a:r>
              <a:rPr lang="en-GB" sz="2000" dirty="0" err="1" smtClean="0"/>
              <a:t>MySQL</a:t>
            </a:r>
            <a:r>
              <a:rPr lang="en-GB" sz="2000" dirty="0" smtClean="0"/>
              <a:t> server version for the right syntax to use near "' at line 1 Warning: </a:t>
            </a:r>
            <a:r>
              <a:rPr lang="en-GB" sz="2000" dirty="0" err="1" smtClean="0"/>
              <a:t>mysql_fetch_array</a:t>
            </a:r>
            <a:r>
              <a:rPr lang="en-GB" sz="2000" dirty="0" smtClean="0"/>
              <a:t>() expects parameter 1 to be resource, </a:t>
            </a:r>
            <a:r>
              <a:rPr lang="en-GB" sz="2000" dirty="0" err="1" smtClean="0"/>
              <a:t>boolean</a:t>
            </a:r>
            <a:r>
              <a:rPr lang="en-GB" sz="2000" dirty="0" smtClean="0"/>
              <a:t> given in /</a:t>
            </a:r>
            <a:r>
              <a:rPr lang="en-GB" sz="2000" dirty="0" err="1" smtClean="0"/>
              <a:t>hj</a:t>
            </a:r>
            <a:r>
              <a:rPr lang="en-GB" sz="2000" dirty="0" smtClean="0"/>
              <a:t>/</a:t>
            </a:r>
            <a:r>
              <a:rPr lang="en-GB" sz="2000" dirty="0" err="1" smtClean="0"/>
              <a:t>var</a:t>
            </a:r>
            <a:r>
              <a:rPr lang="en-GB" sz="2000" dirty="0" smtClean="0"/>
              <a:t>/www/query.php on line 37 </a:t>
            </a:r>
          </a:p>
          <a:p>
            <a:r>
              <a:rPr lang="en-GB" sz="2000" dirty="0" smtClean="0"/>
              <a:t>As a result, the attacker immediately sees that the application is using a </a:t>
            </a:r>
            <a:r>
              <a:rPr lang="en-GB" sz="2000" dirty="0" err="1" smtClean="0"/>
              <a:t>MySQL</a:t>
            </a:r>
            <a:r>
              <a:rPr lang="en-GB" sz="2000" dirty="0" smtClean="0"/>
              <a:t> database and can focus on </a:t>
            </a:r>
            <a:r>
              <a:rPr lang="en-GB" sz="2000" dirty="0" err="1" smtClean="0"/>
              <a:t>MySQL</a:t>
            </a:r>
            <a:r>
              <a:rPr lang="en-GB" sz="2000" dirty="0" smtClean="0"/>
              <a:t>-specific attacks, Depending on the Database type an attacker will inject the payload and he will exploit it. </a:t>
            </a:r>
            <a:endParaRPr lang="en-GB"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62500" lnSpcReduction="20000"/>
          </a:bodyPr>
          <a:lstStyle/>
          <a:p>
            <a:r>
              <a:rPr lang="en-GB" sz="1600" i="1" dirty="0" smtClean="0"/>
              <a:t>Note: </a:t>
            </a:r>
            <a:r>
              <a:rPr lang="en-GB" sz="1600" b="1" i="1" dirty="0" smtClean="0"/>
              <a:t>Enumerate error technique </a:t>
            </a:r>
          </a:p>
          <a:p>
            <a:r>
              <a:rPr lang="en-GB" sz="1600" i="1" dirty="0" smtClean="0"/>
              <a:t>True = Valid Query + No error messages </a:t>
            </a:r>
          </a:p>
          <a:p>
            <a:r>
              <a:rPr lang="en-GB" sz="1600" i="1" dirty="0" smtClean="0"/>
              <a:t>False = Invalid Query + Error messages </a:t>
            </a:r>
          </a:p>
          <a:p>
            <a:r>
              <a:rPr lang="en-GB" sz="1600" i="1" dirty="0" smtClean="0"/>
              <a:t>1. In case the Input field is: </a:t>
            </a:r>
            <a:r>
              <a:rPr lang="en-GB" sz="1600" b="1" i="1" dirty="0" smtClean="0"/>
              <a:t>String </a:t>
            </a:r>
          </a:p>
          <a:p>
            <a:r>
              <a:rPr lang="en-GB" sz="1600" i="1" dirty="0" smtClean="0"/>
              <a:t>where Query = SELECT * FROM Table WHERE id = ‘1’; </a:t>
            </a:r>
          </a:p>
          <a:p>
            <a:r>
              <a:rPr lang="en-GB" sz="1600" i="1" dirty="0" smtClean="0"/>
              <a:t>if, </a:t>
            </a:r>
          </a:p>
          <a:p>
            <a:r>
              <a:rPr lang="en-GB" sz="1600" i="1" dirty="0" smtClean="0"/>
              <a:t>‘ gives False then ‘ ‘ must give a True “</a:t>
            </a:r>
          </a:p>
          <a:p>
            <a:r>
              <a:rPr lang="en-GB" sz="1600" i="1" dirty="0" smtClean="0"/>
              <a:t> gives False then “ “must give a True</a:t>
            </a:r>
          </a:p>
          <a:p>
            <a:r>
              <a:rPr lang="en-GB" sz="1600" i="1" dirty="0" smtClean="0"/>
              <a:t> \ gives False then \\ must give a True </a:t>
            </a:r>
          </a:p>
          <a:p>
            <a:endParaRPr lang="en-GB" sz="1600" i="1" dirty="0" smtClean="0"/>
          </a:p>
          <a:p>
            <a:r>
              <a:rPr lang="en-GB" sz="1600" i="1" dirty="0" smtClean="0"/>
              <a:t>2. In case the Input field is: </a:t>
            </a:r>
            <a:r>
              <a:rPr lang="en-GB" sz="1600" b="1" i="1" dirty="0" smtClean="0"/>
              <a:t>Numeric </a:t>
            </a:r>
          </a:p>
          <a:p>
            <a:r>
              <a:rPr lang="en-GB" sz="1600" i="1" dirty="0" smtClean="0"/>
              <a:t>where Query = SELECT * FROM Table WHERE id = 1; </a:t>
            </a:r>
          </a:p>
          <a:p>
            <a:r>
              <a:rPr lang="en-GB" sz="1600" i="1" dirty="0" smtClean="0"/>
              <a:t>AND 1 True</a:t>
            </a:r>
          </a:p>
          <a:p>
            <a:r>
              <a:rPr lang="en-GB" sz="1600" i="1" dirty="0" smtClean="0"/>
              <a:t> AND 0 False </a:t>
            </a:r>
          </a:p>
          <a:p>
            <a:r>
              <a:rPr lang="en-GB" sz="1600" i="1" dirty="0" smtClean="0"/>
              <a:t>AND true </a:t>
            </a:r>
            <a:r>
              <a:rPr lang="en-GB" sz="1600" i="1" dirty="0" err="1" smtClean="0"/>
              <a:t>True</a:t>
            </a:r>
            <a:endParaRPr lang="en-GB" sz="1600" i="1" dirty="0" smtClean="0"/>
          </a:p>
          <a:p>
            <a:r>
              <a:rPr lang="en-GB" sz="1600" i="1" dirty="0" smtClean="0"/>
              <a:t> AND false </a:t>
            </a:r>
            <a:r>
              <a:rPr lang="en-GB" sz="1600" i="1" dirty="0" err="1" smtClean="0"/>
              <a:t>False</a:t>
            </a:r>
            <a:r>
              <a:rPr lang="en-GB" sz="1600" i="1" dirty="0" smtClean="0"/>
              <a:t> </a:t>
            </a:r>
          </a:p>
          <a:p>
            <a:r>
              <a:rPr lang="en-GB" sz="1600" i="1" dirty="0" smtClean="0"/>
              <a:t>1-false Returns 1 if vulnerable </a:t>
            </a:r>
          </a:p>
          <a:p>
            <a:r>
              <a:rPr lang="en-GB" sz="1600" i="1" dirty="0" smtClean="0"/>
              <a:t>1-true Returns 0 if vulnerable </a:t>
            </a:r>
          </a:p>
          <a:p>
            <a:r>
              <a:rPr lang="en-GB" sz="1600" i="1" dirty="0" smtClean="0"/>
              <a:t>1*50 Returns 50 if vulnerable </a:t>
            </a:r>
          </a:p>
          <a:p>
            <a:r>
              <a:rPr lang="en-GB" sz="1600" i="1" dirty="0" smtClean="0"/>
              <a:t>1*50 Returns 1 if not vulnerable</a:t>
            </a:r>
          </a:p>
          <a:p>
            <a:pPr>
              <a:buNone/>
            </a:pPr>
            <a:r>
              <a:rPr lang="en-GB" sz="1600" i="1" dirty="0" smtClean="0"/>
              <a:t> </a:t>
            </a:r>
          </a:p>
          <a:p>
            <a:r>
              <a:rPr lang="en-GB" sz="1600" i="1" dirty="0" smtClean="0"/>
              <a:t>3. In case the Input field is: </a:t>
            </a:r>
            <a:r>
              <a:rPr lang="en-GB" sz="1600" b="1" i="1" dirty="0" smtClean="0"/>
              <a:t>Login where Query = SELECT * FROM Table WHERE username = ‘’; </a:t>
            </a:r>
          </a:p>
          <a:p>
            <a:r>
              <a:rPr lang="en-GB" sz="1600" i="1" dirty="0" smtClean="0"/>
              <a:t>‘ OR ‘1</a:t>
            </a:r>
          </a:p>
          <a:p>
            <a:r>
              <a:rPr lang="en-GB" sz="1600" i="1" dirty="0" smtClean="0"/>
              <a:t> ‘ OR 1 — - </a:t>
            </a:r>
          </a:p>
          <a:p>
            <a:r>
              <a:rPr lang="en-GB" sz="1600" i="1" dirty="0" smtClean="0"/>
              <a:t>“ OR “” = “ </a:t>
            </a:r>
          </a:p>
          <a:p>
            <a:r>
              <a:rPr lang="en-GB" sz="1600" i="1" dirty="0" smtClean="0"/>
              <a:t>“ OR 1 = 1 — - </a:t>
            </a:r>
          </a:p>
          <a:p>
            <a:r>
              <a:rPr lang="en-GB" sz="1600" i="1" dirty="0" smtClean="0"/>
              <a:t>‘=’ </a:t>
            </a:r>
          </a:p>
          <a:p>
            <a:r>
              <a:rPr lang="en-GB" sz="1600" i="1" dirty="0" smtClean="0"/>
              <a:t>‘LIKE’ </a:t>
            </a:r>
          </a:p>
          <a:p>
            <a:r>
              <a:rPr lang="en-GB" sz="1600" i="1" dirty="0" smtClean="0"/>
              <a:t>‘=0 — + </a:t>
            </a:r>
            <a:endParaRPr lang="en-GB"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p:cNvPicPr>
            <a:picLocks noGrp="1" noChangeAspect="1" noChangeArrowheads="1"/>
          </p:cNvPicPr>
          <p:nvPr>
            <p:ph idx="1"/>
          </p:nvPr>
        </p:nvPicPr>
        <p:blipFill>
          <a:blip r:embed="rId2"/>
          <a:srcRect/>
          <a:stretch>
            <a:fillRect/>
          </a:stretch>
        </p:blipFill>
        <p:spPr bwMode="auto">
          <a:xfrm>
            <a:off x="1462087" y="2839244"/>
            <a:ext cx="6219825" cy="2047875"/>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endParaRPr lang="en-US" sz="1000" dirty="0" smtClean="0"/>
          </a:p>
          <a:p>
            <a:r>
              <a:rPr lang="en-GB" sz="1000" b="1" dirty="0" smtClean="0"/>
              <a:t>Note: </a:t>
            </a:r>
            <a:r>
              <a:rPr lang="en-GB" sz="1000" dirty="0" smtClean="0"/>
              <a:t>Read the Error message that clearly shows the database is “MYSQL” </a:t>
            </a:r>
          </a:p>
          <a:p>
            <a:r>
              <a:rPr lang="en-GB" sz="1000" dirty="0" smtClean="0"/>
              <a:t>2. In this </a:t>
            </a:r>
            <a:r>
              <a:rPr lang="en-GB" sz="1000" b="1" dirty="0" smtClean="0"/>
              <a:t>Movie </a:t>
            </a:r>
            <a:r>
              <a:rPr lang="en-GB" sz="1000" dirty="0" smtClean="0"/>
              <a:t>checking functionality Background </a:t>
            </a:r>
            <a:r>
              <a:rPr lang="en-GB" sz="1000" b="1" dirty="0" smtClean="0"/>
              <a:t>SQL query </a:t>
            </a:r>
            <a:r>
              <a:rPr lang="en-GB" sz="1000" dirty="0" smtClean="0"/>
              <a:t>is:</a:t>
            </a:r>
            <a:r>
              <a:rPr lang="en-GB" sz="1000" b="1" dirty="0" smtClean="0"/>
              <a:t> </a:t>
            </a:r>
          </a:p>
          <a:p>
            <a:r>
              <a:rPr lang="en-GB" sz="1000" b="1" dirty="0" smtClean="0"/>
              <a:t>SELECT * FROM movies WHERE name= ‘Iron Man’; </a:t>
            </a:r>
          </a:p>
          <a:p>
            <a:r>
              <a:rPr lang="en-GB" sz="1000" i="1" dirty="0" smtClean="0"/>
              <a:t>Note: “</a:t>
            </a:r>
            <a:r>
              <a:rPr lang="en-GB" sz="1000" b="1" i="1" dirty="0" smtClean="0"/>
              <a:t>ORDER BY” </a:t>
            </a:r>
            <a:r>
              <a:rPr lang="en-GB" sz="1000" i="1" dirty="0" smtClean="0"/>
              <a:t>this Clause is used to Find how many columns are there in that Table.</a:t>
            </a:r>
            <a:r>
              <a:rPr lang="en-GB" sz="1000" b="1" i="1" dirty="0" smtClean="0"/>
              <a:t> </a:t>
            </a:r>
          </a:p>
          <a:p>
            <a:r>
              <a:rPr lang="en-GB" sz="1000" i="1" dirty="0" smtClean="0"/>
              <a:t>Payload — </a:t>
            </a:r>
            <a:r>
              <a:rPr lang="en-GB" sz="1000" b="1" i="1" dirty="0" smtClean="0"/>
              <a:t>‘ ORDER BY 1# </a:t>
            </a:r>
          </a:p>
          <a:p>
            <a:r>
              <a:rPr lang="en-GB" sz="1000" dirty="0" smtClean="0"/>
              <a:t>Our Payload will be placed like this: </a:t>
            </a:r>
          </a:p>
          <a:p>
            <a:r>
              <a:rPr lang="en-GB" sz="1000" i="1" dirty="0" smtClean="0"/>
              <a:t>SELECT * FROM movies WHERE name= ‘ </a:t>
            </a:r>
            <a:r>
              <a:rPr lang="en-GB" sz="1000" b="1" i="1" dirty="0" smtClean="0"/>
              <a:t>’ ORDER BY 1#’; </a:t>
            </a:r>
          </a:p>
          <a:p>
            <a:r>
              <a:rPr lang="en-GB" sz="1000" dirty="0" smtClean="0"/>
              <a:t>By changing the payload end number like “ </a:t>
            </a:r>
            <a:r>
              <a:rPr lang="en-GB" sz="1000" b="1" dirty="0" smtClean="0"/>
              <a:t>1 2 3 4 ..” </a:t>
            </a:r>
            <a:r>
              <a:rPr lang="en-GB" sz="1000" dirty="0" smtClean="0"/>
              <a:t>we can find out how many columns are there until it returns the error</a:t>
            </a:r>
          </a:p>
          <a:p>
            <a:r>
              <a:rPr lang="en-GB" sz="1000" b="1" i="1" dirty="0" smtClean="0"/>
              <a:t>Example </a:t>
            </a:r>
          </a:p>
          <a:p>
            <a:r>
              <a:rPr lang="en-GB" sz="1000" i="1" dirty="0" smtClean="0"/>
              <a:t>‘ ORDER BY 1# </a:t>
            </a:r>
          </a:p>
          <a:p>
            <a:r>
              <a:rPr lang="en-GB" sz="1000" i="1" dirty="0" smtClean="0"/>
              <a:t>‘ ORDER BY 2#</a:t>
            </a:r>
          </a:p>
          <a:p>
            <a:r>
              <a:rPr lang="en-GB" sz="1000" i="1" dirty="0" smtClean="0"/>
              <a:t> ‘ ORDER BY 3# </a:t>
            </a:r>
          </a:p>
          <a:p>
            <a:r>
              <a:rPr lang="en-GB" sz="1000" i="1" dirty="0" smtClean="0"/>
              <a:t>‘ ORDER BY 4# — </a:t>
            </a:r>
            <a:r>
              <a:rPr lang="en-GB" sz="1000" b="1" i="1" dirty="0" smtClean="0"/>
              <a:t>In the 4th attempt, I got an error that means there are only “ 3 “ columns in that Table.</a:t>
            </a:r>
          </a:p>
          <a:p>
            <a:r>
              <a:rPr lang="en-GB" sz="1000" b="1" i="1" dirty="0" smtClean="0"/>
              <a:t> </a:t>
            </a:r>
          </a:p>
          <a:p>
            <a:r>
              <a:rPr lang="en-GB" sz="1000" dirty="0" smtClean="0"/>
              <a:t>3. See in this application we have tried </a:t>
            </a:r>
            <a:r>
              <a:rPr lang="en-GB" sz="1000" b="1" dirty="0" smtClean="0"/>
              <a:t>until 7# </a:t>
            </a:r>
            <a:r>
              <a:rPr lang="en-GB" sz="1000" dirty="0" smtClean="0"/>
              <a:t>still we are not getting the error that means there are 7 columns in that Table.  </a:t>
            </a:r>
            <a:endParaRPr lang="en-GB"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2050" name="Picture 2"/>
          <p:cNvPicPr>
            <a:picLocks noGrp="1" noChangeAspect="1" noChangeArrowheads="1"/>
          </p:cNvPicPr>
          <p:nvPr>
            <p:ph idx="1"/>
          </p:nvPr>
        </p:nvPicPr>
        <p:blipFill>
          <a:blip r:embed="rId2"/>
          <a:srcRect/>
          <a:stretch>
            <a:fillRect/>
          </a:stretch>
        </p:blipFill>
        <p:spPr bwMode="auto">
          <a:xfrm>
            <a:off x="1238250" y="2315369"/>
            <a:ext cx="6667500" cy="3095625"/>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3074" name="Picture 2"/>
          <p:cNvPicPr>
            <a:picLocks noGrp="1" noChangeAspect="1" noChangeArrowheads="1"/>
          </p:cNvPicPr>
          <p:nvPr>
            <p:ph idx="1"/>
          </p:nvPr>
        </p:nvPicPr>
        <p:blipFill>
          <a:blip r:embed="rId2"/>
          <a:srcRect/>
          <a:stretch>
            <a:fillRect/>
          </a:stretch>
        </p:blipFill>
        <p:spPr bwMode="auto">
          <a:xfrm>
            <a:off x="1238250" y="2615406"/>
            <a:ext cx="6667500" cy="249555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098" name="Picture 2"/>
          <p:cNvPicPr>
            <a:picLocks noGrp="1" noChangeAspect="1" noChangeArrowheads="1"/>
          </p:cNvPicPr>
          <p:nvPr>
            <p:ph idx="1"/>
          </p:nvPr>
        </p:nvPicPr>
        <p:blipFill>
          <a:blip r:embed="rId2"/>
          <a:srcRect/>
          <a:stretch>
            <a:fillRect/>
          </a:stretch>
        </p:blipFill>
        <p:spPr bwMode="auto">
          <a:xfrm>
            <a:off x="1509712" y="2548731"/>
            <a:ext cx="6124575" cy="26289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5122" name="Picture 2"/>
          <p:cNvPicPr>
            <a:picLocks noGrp="1" noChangeAspect="1" noChangeArrowheads="1"/>
          </p:cNvPicPr>
          <p:nvPr>
            <p:ph idx="1"/>
          </p:nvPr>
        </p:nvPicPr>
        <p:blipFill>
          <a:blip r:embed="rId2"/>
          <a:srcRect/>
          <a:stretch>
            <a:fillRect/>
          </a:stretch>
        </p:blipFill>
        <p:spPr bwMode="auto">
          <a:xfrm>
            <a:off x="1238250" y="2924969"/>
            <a:ext cx="6667500" cy="187642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7170" name="Picture 2"/>
          <p:cNvPicPr>
            <a:picLocks noGrp="1" noChangeAspect="1" noChangeArrowheads="1"/>
          </p:cNvPicPr>
          <p:nvPr>
            <p:ph idx="1"/>
          </p:nvPr>
        </p:nvPicPr>
        <p:blipFill>
          <a:blip r:embed="rId2"/>
          <a:srcRect/>
          <a:stretch>
            <a:fillRect/>
          </a:stretch>
        </p:blipFill>
        <p:spPr bwMode="auto">
          <a:xfrm>
            <a:off x="1238250" y="2186781"/>
            <a:ext cx="6667500" cy="33528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8194" name="Picture 2"/>
          <p:cNvPicPr>
            <a:picLocks noGrp="1" noChangeAspect="1" noChangeArrowheads="1"/>
          </p:cNvPicPr>
          <p:nvPr>
            <p:ph idx="1"/>
          </p:nvPr>
        </p:nvPicPr>
        <p:blipFill>
          <a:blip r:embed="rId2"/>
          <a:srcRect/>
          <a:stretch>
            <a:fillRect/>
          </a:stretch>
        </p:blipFill>
        <p:spPr bwMode="auto">
          <a:xfrm>
            <a:off x="1795462" y="2553494"/>
            <a:ext cx="5553075" cy="2619375"/>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9218" name="Picture 2"/>
          <p:cNvPicPr>
            <a:picLocks noGrp="1" noChangeAspect="1" noChangeArrowheads="1"/>
          </p:cNvPicPr>
          <p:nvPr>
            <p:ph idx="1"/>
          </p:nvPr>
        </p:nvPicPr>
        <p:blipFill>
          <a:blip r:embed="rId2"/>
          <a:srcRect/>
          <a:stretch>
            <a:fillRect/>
          </a:stretch>
        </p:blipFill>
        <p:spPr bwMode="auto">
          <a:xfrm>
            <a:off x="2281237" y="1943894"/>
            <a:ext cx="4581525" cy="383857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42" name="Picture 2"/>
          <p:cNvPicPr>
            <a:picLocks noGrp="1" noChangeAspect="1" noChangeArrowheads="1"/>
          </p:cNvPicPr>
          <p:nvPr>
            <p:ph idx="1"/>
          </p:nvPr>
        </p:nvPicPr>
        <p:blipFill>
          <a:blip r:embed="rId3"/>
          <a:srcRect/>
          <a:stretch>
            <a:fillRect/>
          </a:stretch>
        </p:blipFill>
        <p:spPr bwMode="auto">
          <a:xfrm>
            <a:off x="2200275" y="1758156"/>
            <a:ext cx="4743450" cy="421005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1268" name="Picture 4"/>
          <p:cNvPicPr>
            <a:picLocks noGrp="1" noChangeAspect="1" noChangeArrowheads="1"/>
          </p:cNvPicPr>
          <p:nvPr>
            <p:ph idx="1"/>
          </p:nvPr>
        </p:nvPicPr>
        <p:blipFill>
          <a:blip r:embed="rId2"/>
          <a:srcRect/>
          <a:stretch>
            <a:fillRect/>
          </a:stretch>
        </p:blipFill>
        <p:spPr bwMode="auto">
          <a:xfrm>
            <a:off x="2381250" y="1943894"/>
            <a:ext cx="4381500" cy="3838575"/>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sz="1000" dirty="0" smtClean="0"/>
              <a:t>So like this, an attacker will retrieve the data from the database so this is all about “</a:t>
            </a:r>
            <a:r>
              <a:rPr lang="en-GB" sz="1000" b="1" dirty="0" smtClean="0"/>
              <a:t>Union-Based” </a:t>
            </a:r>
            <a:r>
              <a:rPr lang="en-GB" sz="1000" dirty="0" smtClean="0"/>
              <a:t>SQL injection.</a:t>
            </a:r>
            <a:r>
              <a:rPr lang="en-GB" sz="1000" b="1" dirty="0" smtClean="0"/>
              <a:t> </a:t>
            </a:r>
            <a:endParaRPr lang="en-GB"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 xmlns:a16="http://schemas.microsoft.com/office/drawing/2014/main" id="{E449F6AE-9CCD-4344-A808-E058C70E9FB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 xmlns:a16="http://schemas.microsoft.com/office/drawing/2014/main" id="{0D285EBD-BD23-45C3-A289-F87F04DBCF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0"/>
            <a:ext cx="9143999" cy="6858002"/>
          </a:xfrm>
          <a:custGeom>
            <a:avLst/>
            <a:gdLst>
              <a:gd name="connsiteX0" fmla="*/ 4461598 w 12192000"/>
              <a:gd name="connsiteY0" fmla="*/ 0 h 6858002"/>
              <a:gd name="connsiteX1" fmla="*/ 4525606 w 12192000"/>
              <a:gd name="connsiteY1" fmla="*/ 0 h 6858002"/>
              <a:gd name="connsiteX2" fmla="*/ 4525606 w 12192000"/>
              <a:gd name="connsiteY2" fmla="*/ 539937 h 6858002"/>
              <a:gd name="connsiteX3" fmla="*/ 12192000 w 12192000"/>
              <a:gd name="connsiteY3" fmla="*/ 539937 h 6858002"/>
              <a:gd name="connsiteX4" fmla="*/ 12192000 w 12192000"/>
              <a:gd name="connsiteY4" fmla="*/ 603945 h 6858002"/>
              <a:gd name="connsiteX5" fmla="*/ 4525606 w 12192000"/>
              <a:gd name="connsiteY5" fmla="*/ 603945 h 6858002"/>
              <a:gd name="connsiteX6" fmla="*/ 4525606 w 12192000"/>
              <a:gd name="connsiteY6" fmla="*/ 6254055 h 6858002"/>
              <a:gd name="connsiteX7" fmla="*/ 12192000 w 12192000"/>
              <a:gd name="connsiteY7" fmla="*/ 6254055 h 6858002"/>
              <a:gd name="connsiteX8" fmla="*/ 12192000 w 12192000"/>
              <a:gd name="connsiteY8" fmla="*/ 6318063 h 6858002"/>
              <a:gd name="connsiteX9" fmla="*/ 4525606 w 12192000"/>
              <a:gd name="connsiteY9" fmla="*/ 6318063 h 6858002"/>
              <a:gd name="connsiteX10" fmla="*/ 4525606 w 12192000"/>
              <a:gd name="connsiteY10" fmla="*/ 6858002 h 6858002"/>
              <a:gd name="connsiteX11" fmla="*/ 4461598 w 12192000"/>
              <a:gd name="connsiteY11" fmla="*/ 6858002 h 6858002"/>
              <a:gd name="connsiteX12" fmla="*/ 4461598 w 12192000"/>
              <a:gd name="connsiteY12" fmla="*/ 6318063 h 6858002"/>
              <a:gd name="connsiteX13" fmla="*/ 2 w 12192000"/>
              <a:gd name="connsiteY13" fmla="*/ 6318063 h 6858002"/>
              <a:gd name="connsiteX14" fmla="*/ 0 w 12192000"/>
              <a:gd name="connsiteY14" fmla="*/ 6318063 h 6858002"/>
              <a:gd name="connsiteX15" fmla="*/ 0 w 12192000"/>
              <a:gd name="connsiteY15" fmla="*/ 6254055 h 6858002"/>
              <a:gd name="connsiteX16" fmla="*/ 2 w 12192000"/>
              <a:gd name="connsiteY16" fmla="*/ 6254055 h 6858002"/>
              <a:gd name="connsiteX17" fmla="*/ 2 w 12192000"/>
              <a:gd name="connsiteY17" fmla="*/ 603945 h 6858002"/>
              <a:gd name="connsiteX18" fmla="*/ 1 w 12192000"/>
              <a:gd name="connsiteY18" fmla="*/ 603945 h 6858002"/>
              <a:gd name="connsiteX19" fmla="*/ 1 w 12192000"/>
              <a:gd name="connsiteY19" fmla="*/ 539937 h 6858002"/>
              <a:gd name="connsiteX20" fmla="*/ 2 w 12192000"/>
              <a:gd name="connsiteY20" fmla="*/ 539937 h 6858002"/>
              <a:gd name="connsiteX21" fmla="*/ 4461598 w 12192000"/>
              <a:gd name="connsiteY21" fmla="*/ 53993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2000" h="6858002">
                <a:moveTo>
                  <a:pt x="4461598" y="0"/>
                </a:moveTo>
                <a:lnTo>
                  <a:pt x="4525606" y="0"/>
                </a:lnTo>
                <a:lnTo>
                  <a:pt x="4525606" y="539937"/>
                </a:lnTo>
                <a:lnTo>
                  <a:pt x="12192000" y="539937"/>
                </a:lnTo>
                <a:lnTo>
                  <a:pt x="12192000" y="603945"/>
                </a:lnTo>
                <a:lnTo>
                  <a:pt x="4525606" y="603945"/>
                </a:lnTo>
                <a:lnTo>
                  <a:pt x="4525606" y="6254055"/>
                </a:lnTo>
                <a:lnTo>
                  <a:pt x="12192000" y="6254055"/>
                </a:lnTo>
                <a:lnTo>
                  <a:pt x="12192000" y="6318063"/>
                </a:lnTo>
                <a:lnTo>
                  <a:pt x="4525606" y="6318063"/>
                </a:lnTo>
                <a:lnTo>
                  <a:pt x="4525606" y="6858002"/>
                </a:lnTo>
                <a:lnTo>
                  <a:pt x="4461598" y="6858002"/>
                </a:lnTo>
                <a:lnTo>
                  <a:pt x="4461598" y="6318063"/>
                </a:lnTo>
                <a:lnTo>
                  <a:pt x="2" y="6318063"/>
                </a:lnTo>
                <a:lnTo>
                  <a:pt x="0" y="6318063"/>
                </a:lnTo>
                <a:lnTo>
                  <a:pt x="0" y="6254055"/>
                </a:lnTo>
                <a:lnTo>
                  <a:pt x="2" y="6254055"/>
                </a:lnTo>
                <a:lnTo>
                  <a:pt x="2" y="603945"/>
                </a:lnTo>
                <a:lnTo>
                  <a:pt x="1" y="603945"/>
                </a:lnTo>
                <a:lnTo>
                  <a:pt x="1" y="539937"/>
                </a:lnTo>
                <a:lnTo>
                  <a:pt x="2" y="539937"/>
                </a:lnTo>
                <a:lnTo>
                  <a:pt x="4461598" y="539937"/>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80438" y="1458180"/>
            <a:ext cx="4341681" cy="3941640"/>
          </a:xfrm>
        </p:spPr>
        <p:txBody>
          <a:bodyPr anchor="ctr">
            <a:normAutofit/>
          </a:bodyPr>
          <a:lstStyle/>
          <a:p>
            <a:pPr>
              <a:lnSpc>
                <a:spcPct val="90000"/>
              </a:lnSpc>
              <a:buNone/>
            </a:pPr>
            <a:r>
              <a:rPr lang="en-US" sz="1700" b="1"/>
              <a:t>Question 3a:</a:t>
            </a:r>
            <a:endParaRPr lang="en-GB" sz="1700"/>
          </a:p>
          <a:p>
            <a:pPr>
              <a:lnSpc>
                <a:spcPct val="90000"/>
              </a:lnSpc>
            </a:pPr>
            <a:r>
              <a:rPr lang="en-US" sz="1700"/>
              <a:t> Demonstrate and explain the concept of cryptography, demonstrating encryption and decryption using caeser shift and kamasutra method decryption of data.</a:t>
            </a:r>
          </a:p>
          <a:p>
            <a:pPr>
              <a:lnSpc>
                <a:spcPct val="90000"/>
              </a:lnSpc>
              <a:buNone/>
            </a:pPr>
            <a:endParaRPr lang="en-GB" sz="1700"/>
          </a:p>
          <a:p>
            <a:pPr>
              <a:lnSpc>
                <a:spcPct val="90000"/>
              </a:lnSpc>
              <a:buNone/>
            </a:pPr>
            <a:r>
              <a:rPr lang="en-US" sz="1700" b="1"/>
              <a:t>Answer:</a:t>
            </a:r>
            <a:endParaRPr lang="en-GB" sz="1700" b="1"/>
          </a:p>
          <a:p>
            <a:pPr>
              <a:lnSpc>
                <a:spcPct val="90000"/>
              </a:lnSpc>
            </a:pPr>
            <a:r>
              <a:rPr lang="en-US" sz="1700" b="1"/>
              <a:t>The Caesar</a:t>
            </a:r>
            <a:r>
              <a:rPr lang="en-US" sz="1700"/>
              <a:t> cipher(Julius caeser)</a:t>
            </a:r>
            <a:endParaRPr lang="en-GB" sz="1700"/>
          </a:p>
          <a:p>
            <a:pPr>
              <a:lnSpc>
                <a:spcPct val="90000"/>
              </a:lnSpc>
            </a:pPr>
            <a:r>
              <a:rPr lang="en-GB" sz="1700"/>
              <a:t>For example, if we choose a key of 1, then the letter A is concealed as B, the letter B is concealed as C, and so on. We view the alphabet as a loop. So, with a key of 1, the letter Z is concealed as A. Number the letters of the alphabet in order from 0 to 25.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5266402"/>
            <a:ext cx="9143997"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5270175"/>
            <a:ext cx="9138997"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5265546"/>
            <a:ext cx="3057523"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a:off x="-10001" y="5263483"/>
            <a:ext cx="9143999"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455192" y="3833199"/>
            <a:ext cx="6249619" cy="1119982"/>
          </a:xfrm>
        </p:spPr>
        <p:txBody>
          <a:bodyPr anchor="ctr">
            <a:normAutofit/>
          </a:bodyPr>
          <a:lstStyle/>
          <a:p>
            <a:pPr>
              <a:lnSpc>
                <a:spcPct val="90000"/>
              </a:lnSpc>
              <a:buNone/>
            </a:pPr>
            <a:r>
              <a:rPr lang="en-US" sz="1200" b="1"/>
              <a:t>Note: </a:t>
            </a:r>
            <a:r>
              <a:rPr lang="en-US" sz="1200"/>
              <a:t>we can choose any number of our choice, either +1 or -1. </a:t>
            </a:r>
          </a:p>
          <a:p>
            <a:pPr>
              <a:lnSpc>
                <a:spcPct val="90000"/>
              </a:lnSpc>
              <a:buNone/>
            </a:pPr>
            <a:r>
              <a:rPr lang="en-US" sz="1200" b="1"/>
              <a:t>Example:  1</a:t>
            </a:r>
            <a:endParaRPr lang="en-GB" sz="1200" b="1"/>
          </a:p>
          <a:p>
            <a:pPr>
              <a:lnSpc>
                <a:spcPct val="90000"/>
              </a:lnSpc>
            </a:pPr>
            <a:r>
              <a:rPr lang="en-US" sz="1200"/>
              <a:t>In this case, I am using key +1, this simply means that we encrypt each letter by adding one.</a:t>
            </a:r>
            <a:endParaRPr lang="en-GB" sz="1200"/>
          </a:p>
          <a:p>
            <a:pPr>
              <a:lnSpc>
                <a:spcPct val="90000"/>
              </a:lnSpc>
            </a:pPr>
            <a:r>
              <a:rPr lang="en-US" sz="1200"/>
              <a:t>Gdkkn -&gt;encryption</a:t>
            </a:r>
            <a:endParaRPr lang="en-GB" sz="1200"/>
          </a:p>
          <a:p>
            <a:pPr>
              <a:lnSpc>
                <a:spcPct val="90000"/>
              </a:lnSpc>
            </a:pPr>
            <a:r>
              <a:rPr lang="en-US" sz="1200"/>
              <a:t>Hello -&gt;decryption.</a:t>
            </a:r>
            <a:endParaRPr lang="en-GB" sz="1200"/>
          </a:p>
          <a:p>
            <a:pPr>
              <a:lnSpc>
                <a:spcPct val="90000"/>
              </a:lnSpc>
              <a:buNone/>
            </a:pPr>
            <a:endParaRPr lang="en-US" sz="1200"/>
          </a:p>
          <a:p>
            <a:pPr>
              <a:lnSpc>
                <a:spcPct val="90000"/>
              </a:lnSpc>
              <a:buNone/>
            </a:pPr>
            <a:endParaRPr lang="en-GB" sz="1200"/>
          </a:p>
          <a:p>
            <a:pPr>
              <a:lnSpc>
                <a:spcPct val="90000"/>
              </a:lnSpc>
              <a:buNone/>
            </a:pPr>
            <a:endParaRPr lang="en-US" sz="1200"/>
          </a:p>
        </p:txBody>
      </p:sp>
      <p:graphicFrame>
        <p:nvGraphicFramePr>
          <p:cNvPr id="6" name="Table 5"/>
          <p:cNvGraphicFramePr>
            <a:graphicFrameLocks noGrp="1"/>
          </p:cNvGraphicFramePr>
          <p:nvPr>
            <p:extLst>
              <p:ext uri="{D42A27DB-BD31-4B8C-83A1-F6EECF244321}">
                <p14:modId xmlns="" xmlns:p14="http://schemas.microsoft.com/office/powerpoint/2010/main" val="1181917921"/>
              </p:ext>
            </p:extLst>
          </p:nvPr>
        </p:nvGraphicFramePr>
        <p:xfrm>
          <a:off x="1455192" y="1783940"/>
          <a:ext cx="6233625" cy="452535"/>
        </p:xfrm>
        <a:graphic>
          <a:graphicData uri="http://schemas.openxmlformats.org/drawingml/2006/table">
            <a:tbl>
              <a:tblPr firstRow="1" bandRow="1">
                <a:solidFill>
                  <a:schemeClr val="bg1">
                    <a:lumMod val="95000"/>
                  </a:schemeClr>
                </a:solidFill>
                <a:tableStyleId>{5C22544A-7EE6-4342-B048-85BDC9FD1C3A}</a:tableStyleId>
              </a:tblPr>
              <a:tblGrid>
                <a:gridCol w="238460">
                  <a:extLst>
                    <a:ext uri="{9D8B030D-6E8A-4147-A177-3AD203B41FA5}">
                      <a16:colId xmlns="" xmlns:a16="http://schemas.microsoft.com/office/drawing/2014/main" val="20000"/>
                    </a:ext>
                  </a:extLst>
                </a:gridCol>
                <a:gridCol w="238460">
                  <a:extLst>
                    <a:ext uri="{9D8B030D-6E8A-4147-A177-3AD203B41FA5}">
                      <a16:colId xmlns="" xmlns:a16="http://schemas.microsoft.com/office/drawing/2014/main" val="20001"/>
                    </a:ext>
                  </a:extLst>
                </a:gridCol>
                <a:gridCol w="238460">
                  <a:extLst>
                    <a:ext uri="{9D8B030D-6E8A-4147-A177-3AD203B41FA5}">
                      <a16:colId xmlns="" xmlns:a16="http://schemas.microsoft.com/office/drawing/2014/main" val="20002"/>
                    </a:ext>
                  </a:extLst>
                </a:gridCol>
                <a:gridCol w="238460">
                  <a:extLst>
                    <a:ext uri="{9D8B030D-6E8A-4147-A177-3AD203B41FA5}">
                      <a16:colId xmlns="" xmlns:a16="http://schemas.microsoft.com/office/drawing/2014/main" val="20003"/>
                    </a:ext>
                  </a:extLst>
                </a:gridCol>
                <a:gridCol w="232258">
                  <a:extLst>
                    <a:ext uri="{9D8B030D-6E8A-4147-A177-3AD203B41FA5}">
                      <a16:colId xmlns="" xmlns:a16="http://schemas.microsoft.com/office/drawing/2014/main" val="20004"/>
                    </a:ext>
                  </a:extLst>
                </a:gridCol>
                <a:gridCol w="226055">
                  <a:extLst>
                    <a:ext uri="{9D8B030D-6E8A-4147-A177-3AD203B41FA5}">
                      <a16:colId xmlns="" xmlns:a16="http://schemas.microsoft.com/office/drawing/2014/main" val="20005"/>
                    </a:ext>
                  </a:extLst>
                </a:gridCol>
                <a:gridCol w="245548">
                  <a:extLst>
                    <a:ext uri="{9D8B030D-6E8A-4147-A177-3AD203B41FA5}">
                      <a16:colId xmlns="" xmlns:a16="http://schemas.microsoft.com/office/drawing/2014/main" val="20006"/>
                    </a:ext>
                  </a:extLst>
                </a:gridCol>
                <a:gridCol w="238460">
                  <a:extLst>
                    <a:ext uri="{9D8B030D-6E8A-4147-A177-3AD203B41FA5}">
                      <a16:colId xmlns="" xmlns:a16="http://schemas.microsoft.com/office/drawing/2014/main" val="20007"/>
                    </a:ext>
                  </a:extLst>
                </a:gridCol>
                <a:gridCol w="195928">
                  <a:extLst>
                    <a:ext uri="{9D8B030D-6E8A-4147-A177-3AD203B41FA5}">
                      <a16:colId xmlns="" xmlns:a16="http://schemas.microsoft.com/office/drawing/2014/main" val="20008"/>
                    </a:ext>
                  </a:extLst>
                </a:gridCol>
                <a:gridCol w="219853">
                  <a:extLst>
                    <a:ext uri="{9D8B030D-6E8A-4147-A177-3AD203B41FA5}">
                      <a16:colId xmlns="" xmlns:a16="http://schemas.microsoft.com/office/drawing/2014/main" val="20009"/>
                    </a:ext>
                  </a:extLst>
                </a:gridCol>
                <a:gridCol w="242890">
                  <a:extLst>
                    <a:ext uri="{9D8B030D-6E8A-4147-A177-3AD203B41FA5}">
                      <a16:colId xmlns="" xmlns:a16="http://schemas.microsoft.com/office/drawing/2014/main" val="20010"/>
                    </a:ext>
                  </a:extLst>
                </a:gridCol>
                <a:gridCol w="242890">
                  <a:extLst>
                    <a:ext uri="{9D8B030D-6E8A-4147-A177-3AD203B41FA5}">
                      <a16:colId xmlns="" xmlns:a16="http://schemas.microsoft.com/office/drawing/2014/main" val="20011"/>
                    </a:ext>
                  </a:extLst>
                </a:gridCol>
                <a:gridCol w="251751">
                  <a:extLst>
                    <a:ext uri="{9D8B030D-6E8A-4147-A177-3AD203B41FA5}">
                      <a16:colId xmlns="" xmlns:a16="http://schemas.microsoft.com/office/drawing/2014/main" val="20012"/>
                    </a:ext>
                  </a:extLst>
                </a:gridCol>
                <a:gridCol w="242890">
                  <a:extLst>
                    <a:ext uri="{9D8B030D-6E8A-4147-A177-3AD203B41FA5}">
                      <a16:colId xmlns="" xmlns:a16="http://schemas.microsoft.com/office/drawing/2014/main" val="20013"/>
                    </a:ext>
                  </a:extLst>
                </a:gridCol>
                <a:gridCol w="245548">
                  <a:extLst>
                    <a:ext uri="{9D8B030D-6E8A-4147-A177-3AD203B41FA5}">
                      <a16:colId xmlns="" xmlns:a16="http://schemas.microsoft.com/office/drawing/2014/main" val="20014"/>
                    </a:ext>
                  </a:extLst>
                </a:gridCol>
                <a:gridCol w="242890">
                  <a:extLst>
                    <a:ext uri="{9D8B030D-6E8A-4147-A177-3AD203B41FA5}">
                      <a16:colId xmlns="" xmlns:a16="http://schemas.microsoft.com/office/drawing/2014/main" val="20015"/>
                    </a:ext>
                  </a:extLst>
                </a:gridCol>
                <a:gridCol w="245548">
                  <a:extLst>
                    <a:ext uri="{9D8B030D-6E8A-4147-A177-3AD203B41FA5}">
                      <a16:colId xmlns="" xmlns:a16="http://schemas.microsoft.com/office/drawing/2014/main" val="20016"/>
                    </a:ext>
                  </a:extLst>
                </a:gridCol>
                <a:gridCol w="242890">
                  <a:extLst>
                    <a:ext uri="{9D8B030D-6E8A-4147-A177-3AD203B41FA5}">
                      <a16:colId xmlns="" xmlns:a16="http://schemas.microsoft.com/office/drawing/2014/main" val="20017"/>
                    </a:ext>
                  </a:extLst>
                </a:gridCol>
                <a:gridCol w="242890">
                  <a:extLst>
                    <a:ext uri="{9D8B030D-6E8A-4147-A177-3AD203B41FA5}">
                      <a16:colId xmlns="" xmlns:a16="http://schemas.microsoft.com/office/drawing/2014/main" val="20018"/>
                    </a:ext>
                  </a:extLst>
                </a:gridCol>
                <a:gridCol w="242890">
                  <a:extLst>
                    <a:ext uri="{9D8B030D-6E8A-4147-A177-3AD203B41FA5}">
                      <a16:colId xmlns="" xmlns:a16="http://schemas.microsoft.com/office/drawing/2014/main" val="20019"/>
                    </a:ext>
                  </a:extLst>
                </a:gridCol>
                <a:gridCol w="242890">
                  <a:extLst>
                    <a:ext uri="{9D8B030D-6E8A-4147-A177-3AD203B41FA5}">
                      <a16:colId xmlns="" xmlns:a16="http://schemas.microsoft.com/office/drawing/2014/main" val="20020"/>
                    </a:ext>
                  </a:extLst>
                </a:gridCol>
                <a:gridCol w="242890">
                  <a:extLst>
                    <a:ext uri="{9D8B030D-6E8A-4147-A177-3AD203B41FA5}">
                      <a16:colId xmlns="" xmlns:a16="http://schemas.microsoft.com/office/drawing/2014/main" val="20021"/>
                    </a:ext>
                  </a:extLst>
                </a:gridCol>
                <a:gridCol w="264156">
                  <a:extLst>
                    <a:ext uri="{9D8B030D-6E8A-4147-A177-3AD203B41FA5}">
                      <a16:colId xmlns="" xmlns:a16="http://schemas.microsoft.com/office/drawing/2014/main" val="20022"/>
                    </a:ext>
                  </a:extLst>
                </a:gridCol>
                <a:gridCol w="242890">
                  <a:extLst>
                    <a:ext uri="{9D8B030D-6E8A-4147-A177-3AD203B41FA5}">
                      <a16:colId xmlns="" xmlns:a16="http://schemas.microsoft.com/office/drawing/2014/main" val="20023"/>
                    </a:ext>
                  </a:extLst>
                </a:gridCol>
                <a:gridCol w="242890">
                  <a:extLst>
                    <a:ext uri="{9D8B030D-6E8A-4147-A177-3AD203B41FA5}">
                      <a16:colId xmlns="" xmlns:a16="http://schemas.microsoft.com/office/drawing/2014/main" val="20024"/>
                    </a:ext>
                  </a:extLst>
                </a:gridCol>
                <a:gridCol w="242890">
                  <a:extLst>
                    <a:ext uri="{9D8B030D-6E8A-4147-A177-3AD203B41FA5}">
                      <a16:colId xmlns="" xmlns:a16="http://schemas.microsoft.com/office/drawing/2014/main" val="20025"/>
                    </a:ext>
                  </a:extLst>
                </a:gridCol>
              </a:tblGrid>
              <a:tr h="243280">
                <a:tc>
                  <a:txBody>
                    <a:bodyPr/>
                    <a:lstStyle/>
                    <a:p>
                      <a:r>
                        <a:rPr lang="en-US" sz="900" b="1" cap="none" spc="0">
                          <a:solidFill>
                            <a:schemeClr val="tx1"/>
                          </a:solidFill>
                        </a:rPr>
                        <a:t>A</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B</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C</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D</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E</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F</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G</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H</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I</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J</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K</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L</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M</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N</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O</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P</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Q</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R</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S</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T</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U</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V</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W</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X</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Y</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900" b="1" cap="none" spc="0">
                          <a:solidFill>
                            <a:schemeClr val="tx1"/>
                          </a:solidFill>
                        </a:rPr>
                        <a:t>Z</a:t>
                      </a:r>
                      <a:endParaRPr lang="en-GB" sz="900" b="1" cap="none" spc="0">
                        <a:solidFill>
                          <a:schemeClr val="tx1"/>
                        </a:solidFill>
                      </a:endParaRPr>
                    </a:p>
                  </a:txBody>
                  <a:tcPr marL="35726" marR="51038" marT="10208" marB="76556"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 xmlns:a16="http://schemas.microsoft.com/office/drawing/2014/main" val="10000"/>
                  </a:ext>
                </a:extLst>
              </a:tr>
              <a:tr h="209255">
                <a:tc>
                  <a:txBody>
                    <a:bodyPr/>
                    <a:lstStyle/>
                    <a:p>
                      <a:r>
                        <a:rPr lang="en-US" sz="700" cap="none" spc="0">
                          <a:solidFill>
                            <a:schemeClr val="tx1"/>
                          </a:solidFill>
                        </a:rPr>
                        <a:t>0</a:t>
                      </a:r>
                      <a:endParaRPr lang="en-GB" sz="700" cap="none" spc="0">
                        <a:solidFill>
                          <a:schemeClr val="tx1"/>
                        </a:solidFill>
                      </a:endParaRPr>
                    </a:p>
                  </a:txBody>
                  <a:tcPr marL="35726" marR="51038" marT="10208" marB="76556">
                    <a:lnL w="12700" cap="flat" cmpd="sng" algn="ctr">
                      <a:solidFill>
                        <a:schemeClr val="accent1"/>
                      </a:solid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3</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4</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5</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6</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7</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8</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9</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10</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11</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12</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13</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14</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15</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16</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17</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18</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19</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20</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21</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22</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23</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24</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US" sz="700" cap="none" spc="0">
                          <a:solidFill>
                            <a:schemeClr val="tx1"/>
                          </a:solidFill>
                        </a:rPr>
                        <a:t>25</a:t>
                      </a:r>
                      <a:endParaRPr lang="en-GB" sz="700" cap="none" spc="0">
                        <a:solidFill>
                          <a:schemeClr val="tx1"/>
                        </a:solidFill>
                      </a:endParaRPr>
                    </a:p>
                  </a:txBody>
                  <a:tcPr marL="35726" marR="51038" marT="10208" marB="76556">
                    <a:lnL w="12700" cmpd="sng">
                      <a:noFill/>
                      <a:prstDash val="solid"/>
                    </a:lnL>
                    <a:lnR w="12700" cmpd="sng">
                      <a:noFill/>
                      <a:prstDash val="solid"/>
                    </a:lnR>
                    <a:lnT w="38100" cmpd="sng">
                      <a:noFill/>
                    </a:lnT>
                    <a:lnB w="12700" cmpd="sng">
                      <a:noFill/>
                      <a:prstDash val="solid"/>
                    </a:lnB>
                    <a:solidFill>
                      <a:schemeClr val="bg1">
                        <a:lumMod val="95000"/>
                      </a:schemeClr>
                    </a:solidFill>
                  </a:tcPr>
                </a:tc>
                <a:extLst>
                  <a:ext uri="{0D108BD9-81ED-4DB2-BD59-A6C34878D82A}">
                    <a16:rowId xmlns="" xmlns:a16="http://schemas.microsoft.com/office/drawing/2014/main" val="10001"/>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EE2AD96-B495-4E06-9291-B71706F728C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53CF6D67-C5A8-4ADD-9E8E-1E38CA1D316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86909FA0-B515-4681-B7A8-FA281D133B9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21C9FE86-FCC3-4A31-AA1C-C882262B7FE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 xmlns:a16="http://schemas.microsoft.com/office/drawing/2014/main" id="{7D96243B-ECED-4B71-8E06-AE9A285EAD2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 xmlns:a16="http://schemas.microsoft.com/office/drawing/2014/main" id="{A09989E4-EFDC-4A90-A633-E0525FB413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4877368" y="649480"/>
            <a:ext cx="3646835" cy="5546047"/>
          </a:xfrm>
        </p:spPr>
        <p:txBody>
          <a:bodyPr anchor="ctr">
            <a:normAutofit/>
          </a:bodyPr>
          <a:lstStyle/>
          <a:p>
            <a:pPr>
              <a:lnSpc>
                <a:spcPct val="90000"/>
              </a:lnSpc>
            </a:pPr>
            <a:r>
              <a:rPr lang="en-US" sz="1600" b="1" dirty="0" err="1"/>
              <a:t>Kamasutra</a:t>
            </a:r>
            <a:r>
              <a:rPr lang="en-US" sz="1600" b="1" dirty="0"/>
              <a:t> </a:t>
            </a:r>
            <a:r>
              <a:rPr lang="en-US" sz="1600" b="1" dirty="0" smtClean="0"/>
              <a:t>Cipher:</a:t>
            </a:r>
          </a:p>
          <a:p>
            <a:pPr>
              <a:lnSpc>
                <a:spcPct val="90000"/>
              </a:lnSpc>
            </a:pPr>
            <a:r>
              <a:rPr lang="en-GB" sz="1600" dirty="0" smtClean="0"/>
              <a:t>The techniques involves randomly pairing letters of the alphabet, and then substituting each letter in the original message with its partner.</a:t>
            </a:r>
          </a:p>
          <a:p>
            <a:pPr>
              <a:lnSpc>
                <a:spcPct val="90000"/>
              </a:lnSpc>
            </a:pPr>
            <a:endParaRPr lang="en-GB" sz="1600" dirty="0"/>
          </a:p>
        </p:txBody>
      </p:sp>
      <p:graphicFrame>
        <p:nvGraphicFramePr>
          <p:cNvPr id="9" name="Table 8"/>
          <p:cNvGraphicFramePr>
            <a:graphicFrameLocks noGrp="1"/>
          </p:cNvGraphicFramePr>
          <p:nvPr/>
        </p:nvGraphicFramePr>
        <p:xfrm>
          <a:off x="1142976" y="-428652"/>
          <a:ext cx="6096006" cy="3000396"/>
        </p:xfrm>
        <a:graphic>
          <a:graphicData uri="http://schemas.openxmlformats.org/drawingml/2006/table">
            <a:tbl>
              <a:tblPr firstRow="1" bandRow="1">
                <a:tableStyleId>{5C22544A-7EE6-4342-B048-85BDC9FD1C3A}</a:tableStyleId>
              </a:tblPr>
              <a:tblGrid>
                <a:gridCol w="619108"/>
                <a:gridCol w="251750"/>
                <a:gridCol w="435429"/>
                <a:gridCol w="435429"/>
                <a:gridCol w="435429"/>
                <a:gridCol w="435429"/>
                <a:gridCol w="435429"/>
                <a:gridCol w="435429"/>
                <a:gridCol w="435429"/>
                <a:gridCol w="435429"/>
                <a:gridCol w="435429"/>
                <a:gridCol w="435429"/>
                <a:gridCol w="435429"/>
                <a:gridCol w="435429"/>
              </a:tblGrid>
              <a:tr h="1526757">
                <a:tc>
                  <a:txBody>
                    <a:bodyPr/>
                    <a:lstStyle/>
                    <a:p>
                      <a:r>
                        <a:rPr lang="en-US" dirty="0" smtClean="0"/>
                        <a:t>UPPER HALF</a:t>
                      </a:r>
                      <a:endParaRPr lang="en-GB" dirty="0"/>
                    </a:p>
                  </a:txBody>
                  <a:tcPr/>
                </a:tc>
                <a:tc>
                  <a:txBody>
                    <a:bodyPr/>
                    <a:lstStyle/>
                    <a:p>
                      <a:r>
                        <a:rPr lang="en-US" dirty="0" smtClean="0"/>
                        <a:t>W</a:t>
                      </a:r>
                      <a:endParaRPr lang="en-GB" dirty="0"/>
                    </a:p>
                  </a:txBody>
                  <a:tcPr/>
                </a:tc>
                <a:tc>
                  <a:txBody>
                    <a:bodyPr/>
                    <a:lstStyle/>
                    <a:p>
                      <a:r>
                        <a:rPr lang="en-US" dirty="0" smtClean="0"/>
                        <a:t>Z</a:t>
                      </a:r>
                      <a:endParaRPr lang="en-GB" dirty="0"/>
                    </a:p>
                  </a:txBody>
                  <a:tcPr/>
                </a:tc>
                <a:tc>
                  <a:txBody>
                    <a:bodyPr/>
                    <a:lstStyle/>
                    <a:p>
                      <a:r>
                        <a:rPr lang="en-US" dirty="0" smtClean="0"/>
                        <a:t>V</a:t>
                      </a:r>
                      <a:endParaRPr lang="en-GB" dirty="0"/>
                    </a:p>
                  </a:txBody>
                  <a:tcPr/>
                </a:tc>
                <a:tc>
                  <a:txBody>
                    <a:bodyPr/>
                    <a:lstStyle/>
                    <a:p>
                      <a:r>
                        <a:rPr lang="en-US" dirty="0" smtClean="0"/>
                        <a:t>P</a:t>
                      </a:r>
                      <a:endParaRPr lang="en-GB" dirty="0"/>
                    </a:p>
                  </a:txBody>
                  <a:tcPr/>
                </a:tc>
                <a:tc>
                  <a:txBody>
                    <a:bodyPr/>
                    <a:lstStyle/>
                    <a:p>
                      <a:r>
                        <a:rPr lang="en-US" dirty="0" smtClean="0"/>
                        <a:t>O</a:t>
                      </a:r>
                      <a:endParaRPr lang="en-GB" dirty="0"/>
                    </a:p>
                  </a:txBody>
                  <a:tcPr/>
                </a:tc>
                <a:tc>
                  <a:txBody>
                    <a:bodyPr/>
                    <a:lstStyle/>
                    <a:p>
                      <a:r>
                        <a:rPr lang="en-US" dirty="0" smtClean="0"/>
                        <a:t>F</a:t>
                      </a:r>
                      <a:endParaRPr lang="en-GB" dirty="0"/>
                    </a:p>
                  </a:txBody>
                  <a:tcPr/>
                </a:tc>
                <a:tc>
                  <a:txBody>
                    <a:bodyPr/>
                    <a:lstStyle/>
                    <a:p>
                      <a:r>
                        <a:rPr lang="en-US" dirty="0" smtClean="0"/>
                        <a:t>D</a:t>
                      </a:r>
                      <a:endParaRPr lang="en-GB" dirty="0"/>
                    </a:p>
                  </a:txBody>
                  <a:tcPr/>
                </a:tc>
                <a:tc>
                  <a:txBody>
                    <a:bodyPr/>
                    <a:lstStyle/>
                    <a:p>
                      <a:r>
                        <a:rPr lang="en-US" dirty="0" smtClean="0"/>
                        <a:t>E</a:t>
                      </a:r>
                      <a:endParaRPr lang="en-GB" dirty="0"/>
                    </a:p>
                  </a:txBody>
                  <a:tcPr/>
                </a:tc>
                <a:tc>
                  <a:txBody>
                    <a:bodyPr/>
                    <a:lstStyle/>
                    <a:p>
                      <a:r>
                        <a:rPr lang="en-US" dirty="0" smtClean="0"/>
                        <a:t>A</a:t>
                      </a:r>
                      <a:endParaRPr lang="en-GB" dirty="0"/>
                    </a:p>
                  </a:txBody>
                  <a:tcPr/>
                </a:tc>
                <a:tc>
                  <a:txBody>
                    <a:bodyPr/>
                    <a:lstStyle/>
                    <a:p>
                      <a:r>
                        <a:rPr lang="en-US" dirty="0" smtClean="0"/>
                        <a:t>B</a:t>
                      </a:r>
                      <a:endParaRPr lang="en-GB" dirty="0"/>
                    </a:p>
                  </a:txBody>
                  <a:tcPr/>
                </a:tc>
                <a:tc>
                  <a:txBody>
                    <a:bodyPr/>
                    <a:lstStyle/>
                    <a:p>
                      <a:r>
                        <a:rPr lang="en-US" dirty="0" smtClean="0"/>
                        <a:t>R</a:t>
                      </a:r>
                      <a:endParaRPr lang="en-GB" dirty="0"/>
                    </a:p>
                  </a:txBody>
                  <a:tcPr/>
                </a:tc>
                <a:tc>
                  <a:txBody>
                    <a:bodyPr/>
                    <a:lstStyle/>
                    <a:p>
                      <a:r>
                        <a:rPr lang="en-US" dirty="0" smtClean="0"/>
                        <a:t>M</a:t>
                      </a:r>
                      <a:endParaRPr lang="en-GB" dirty="0"/>
                    </a:p>
                  </a:txBody>
                  <a:tcPr/>
                </a:tc>
                <a:tc>
                  <a:txBody>
                    <a:bodyPr/>
                    <a:lstStyle/>
                    <a:p>
                      <a:r>
                        <a:rPr lang="en-US" dirty="0" smtClean="0"/>
                        <a:t>Y</a:t>
                      </a:r>
                      <a:endParaRPr lang="en-GB" dirty="0"/>
                    </a:p>
                  </a:txBody>
                  <a:tcPr/>
                </a:tc>
              </a:tr>
              <a:tr h="1473639">
                <a:tc>
                  <a:txBody>
                    <a:bodyPr/>
                    <a:lstStyle/>
                    <a:p>
                      <a:r>
                        <a:rPr lang="en-US" dirty="0" smtClean="0"/>
                        <a:t>LOWER HALF</a:t>
                      </a:r>
                      <a:endParaRPr lang="en-GB" dirty="0"/>
                    </a:p>
                  </a:txBody>
                  <a:tcPr/>
                </a:tc>
                <a:tc>
                  <a:txBody>
                    <a:bodyPr/>
                    <a:lstStyle/>
                    <a:p>
                      <a:r>
                        <a:rPr lang="en-US" dirty="0" smtClean="0"/>
                        <a:t>N</a:t>
                      </a:r>
                      <a:endParaRPr lang="en-GB" dirty="0"/>
                    </a:p>
                  </a:txBody>
                  <a:tcPr/>
                </a:tc>
                <a:tc>
                  <a:txBody>
                    <a:bodyPr/>
                    <a:lstStyle/>
                    <a:p>
                      <a:r>
                        <a:rPr lang="en-US" dirty="0" smtClean="0"/>
                        <a:t>H</a:t>
                      </a:r>
                      <a:endParaRPr lang="en-GB" dirty="0"/>
                    </a:p>
                  </a:txBody>
                  <a:tcPr/>
                </a:tc>
                <a:tc>
                  <a:txBody>
                    <a:bodyPr/>
                    <a:lstStyle/>
                    <a:p>
                      <a:r>
                        <a:rPr lang="en-US" dirty="0" smtClean="0"/>
                        <a:t>G</a:t>
                      </a:r>
                      <a:endParaRPr lang="en-GB" dirty="0"/>
                    </a:p>
                  </a:txBody>
                  <a:tcPr/>
                </a:tc>
                <a:tc>
                  <a:txBody>
                    <a:bodyPr/>
                    <a:lstStyle/>
                    <a:p>
                      <a:r>
                        <a:rPr lang="en-US" dirty="0" smtClean="0"/>
                        <a:t>X</a:t>
                      </a:r>
                      <a:endParaRPr lang="en-GB" dirty="0"/>
                    </a:p>
                  </a:txBody>
                  <a:tcPr/>
                </a:tc>
                <a:tc>
                  <a:txBody>
                    <a:bodyPr/>
                    <a:lstStyle/>
                    <a:p>
                      <a:r>
                        <a:rPr lang="en-US" dirty="0" smtClean="0"/>
                        <a:t>K</a:t>
                      </a:r>
                      <a:endParaRPr lang="en-GB" dirty="0"/>
                    </a:p>
                  </a:txBody>
                  <a:tcPr/>
                </a:tc>
                <a:tc>
                  <a:txBody>
                    <a:bodyPr/>
                    <a:lstStyle/>
                    <a:p>
                      <a:r>
                        <a:rPr lang="en-US" dirty="0" smtClean="0"/>
                        <a:t>S</a:t>
                      </a:r>
                      <a:endParaRPr lang="en-GB" dirty="0"/>
                    </a:p>
                  </a:txBody>
                  <a:tcPr/>
                </a:tc>
                <a:tc>
                  <a:txBody>
                    <a:bodyPr/>
                    <a:lstStyle/>
                    <a:p>
                      <a:r>
                        <a:rPr lang="en-US" dirty="0" smtClean="0"/>
                        <a:t>I</a:t>
                      </a:r>
                      <a:endParaRPr lang="en-GB" dirty="0"/>
                    </a:p>
                  </a:txBody>
                  <a:tcPr/>
                </a:tc>
                <a:tc>
                  <a:txBody>
                    <a:bodyPr/>
                    <a:lstStyle/>
                    <a:p>
                      <a:r>
                        <a:rPr lang="en-US" dirty="0" smtClean="0"/>
                        <a:t>C</a:t>
                      </a:r>
                      <a:endParaRPr lang="en-GB" dirty="0"/>
                    </a:p>
                  </a:txBody>
                  <a:tcPr/>
                </a:tc>
                <a:tc>
                  <a:txBody>
                    <a:bodyPr/>
                    <a:lstStyle/>
                    <a:p>
                      <a:r>
                        <a:rPr lang="en-US" dirty="0" smtClean="0"/>
                        <a:t>J</a:t>
                      </a:r>
                      <a:endParaRPr lang="en-GB" dirty="0"/>
                    </a:p>
                  </a:txBody>
                  <a:tcPr/>
                </a:tc>
                <a:tc>
                  <a:txBody>
                    <a:bodyPr/>
                    <a:lstStyle/>
                    <a:p>
                      <a:r>
                        <a:rPr lang="en-US" dirty="0" smtClean="0"/>
                        <a:t>U</a:t>
                      </a:r>
                      <a:endParaRPr lang="en-GB" dirty="0"/>
                    </a:p>
                  </a:txBody>
                  <a:tcPr/>
                </a:tc>
                <a:tc>
                  <a:txBody>
                    <a:bodyPr/>
                    <a:lstStyle/>
                    <a:p>
                      <a:r>
                        <a:rPr lang="en-US" dirty="0" smtClean="0"/>
                        <a:t>T</a:t>
                      </a:r>
                      <a:endParaRPr lang="en-GB" dirty="0"/>
                    </a:p>
                  </a:txBody>
                  <a:tcPr/>
                </a:tc>
                <a:tc>
                  <a:txBody>
                    <a:bodyPr/>
                    <a:lstStyle/>
                    <a:p>
                      <a:r>
                        <a:rPr lang="en-US" dirty="0" smtClean="0"/>
                        <a:t>Q</a:t>
                      </a:r>
                      <a:endParaRPr lang="en-GB" dirty="0"/>
                    </a:p>
                  </a:txBody>
                  <a:tcPr/>
                </a:tc>
                <a:tc>
                  <a:txBody>
                    <a:bodyPr/>
                    <a:lstStyle/>
                    <a:p>
                      <a:r>
                        <a:rPr lang="en-US" dirty="0" smtClean="0"/>
                        <a:t>L</a:t>
                      </a:r>
                      <a:endParaRPr lang="en-GB" dirty="0"/>
                    </a:p>
                  </a:txBody>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 xmlns:a16="http://schemas.microsoft.com/office/drawing/2014/main" id="{DEE2AD96-B495-4E06-9291-B71706F728C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 xmlns:a16="http://schemas.microsoft.com/office/drawing/2014/main" id="{53CF6D67-C5A8-4ADD-9E8E-1E38CA1D316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86909FA0-B515-4681-B7A8-FA281D133B9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21C9FE86-FCC3-4A31-AA1C-C882262B7FE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 xmlns:a16="http://schemas.microsoft.com/office/drawing/2014/main" id="{7D96243B-ECED-4B71-8E06-AE9A285EAD2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 xmlns:a16="http://schemas.microsoft.com/office/drawing/2014/main" id="{A09989E4-EFDC-4A90-A633-E0525FB4139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endParaRPr lang="en-GB" sz="3500" dirty="0">
              <a:solidFill>
                <a:srgbClr val="FFFFFF"/>
              </a:solidFill>
            </a:endParaRPr>
          </a:p>
        </p:txBody>
      </p:sp>
      <p:sp>
        <p:nvSpPr>
          <p:cNvPr id="3" name="Content Placeholder 2"/>
          <p:cNvSpPr>
            <a:spLocks noGrp="1"/>
          </p:cNvSpPr>
          <p:nvPr>
            <p:ph idx="1"/>
          </p:nvPr>
        </p:nvSpPr>
        <p:spPr>
          <a:xfrm>
            <a:off x="4877368" y="649480"/>
            <a:ext cx="3646835" cy="5546047"/>
          </a:xfrm>
        </p:spPr>
        <p:txBody>
          <a:bodyPr anchor="ctr">
            <a:normAutofit/>
          </a:bodyPr>
          <a:lstStyle/>
          <a:p>
            <a:endParaRPr lang="en-US" sz="1700" dirty="0"/>
          </a:p>
          <a:p>
            <a:pPr marL="0" indent="0">
              <a:buNone/>
            </a:pPr>
            <a:r>
              <a:rPr lang="en-US" sz="1700" dirty="0" smtClean="0"/>
              <a:t>The key is the permutation of the alphabet.</a:t>
            </a:r>
          </a:p>
          <a:p>
            <a:pPr marL="0" indent="0">
              <a:buNone/>
            </a:pPr>
            <a:r>
              <a:rPr lang="en-US" sz="1700" b="1" dirty="0" smtClean="0"/>
              <a:t>Example:</a:t>
            </a:r>
            <a:endParaRPr lang="en-US" sz="1700" dirty="0" smtClean="0"/>
          </a:p>
          <a:p>
            <a:pPr marL="0" indent="0">
              <a:buNone/>
            </a:pPr>
            <a:r>
              <a:rPr lang="en-US" sz="1700" dirty="0" smtClean="0"/>
              <a:t>INTERNET SOCIETY NIGERIA CHAPTER</a:t>
            </a:r>
          </a:p>
          <a:p>
            <a:pPr marL="0" indent="0">
              <a:buNone/>
            </a:pPr>
            <a:r>
              <a:rPr lang="en-US" sz="1700" dirty="0" smtClean="0"/>
              <a:t>DWRCTWCR FKEDCRL WDVCTDJ EZJXRCT</a:t>
            </a:r>
            <a:endParaRPr lang="en-GB"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 xmlns:a16="http://schemas.microsoft.com/office/drawing/2014/main" id="{12609869-9E80-471B-A487-A53288E0E79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84408" y="2341371"/>
            <a:ext cx="3209252" cy="2175233"/>
          </a:xfrm>
        </p:spPr>
        <p:txBody>
          <a:bodyPr anchor="t">
            <a:normAutofit/>
          </a:bodyPr>
          <a:lstStyle/>
          <a:p>
            <a:pPr>
              <a:buNone/>
            </a:pPr>
            <a:r>
              <a:rPr lang="en-US" sz="1600" b="1" dirty="0"/>
              <a:t>Question 3b:</a:t>
            </a:r>
            <a:endParaRPr lang="en-GB" sz="1600" dirty="0"/>
          </a:p>
          <a:p>
            <a:r>
              <a:rPr lang="en-US" sz="1600" dirty="0"/>
              <a:t>Demonstrate the different methods of hashing passwords.</a:t>
            </a:r>
          </a:p>
          <a:p>
            <a:pPr marL="0" indent="0">
              <a:buNone/>
            </a:pPr>
            <a:endParaRPr lang="en-GB" sz="1600" dirty="0"/>
          </a:p>
          <a:p>
            <a:pPr marL="0" indent="0">
              <a:buNone/>
            </a:pPr>
            <a:r>
              <a:rPr lang="en-US" sz="1600" b="1" dirty="0"/>
              <a:t>Answer:</a:t>
            </a:r>
            <a:endParaRPr lang="en-GB" sz="1600" b="1" dirty="0"/>
          </a:p>
          <a:p>
            <a:pPr lvl="0"/>
            <a:r>
              <a:rPr lang="en-US" sz="1600" dirty="0"/>
              <a:t>Linux terminal</a:t>
            </a:r>
            <a:endParaRPr lang="en-GB" sz="1600" dirty="0"/>
          </a:p>
          <a:p>
            <a:r>
              <a:rPr lang="en-US" sz="1600" dirty="0"/>
              <a:t>Echo  -n “hello” | md5sum</a:t>
            </a:r>
            <a:endParaRPr lang="en-GB" sz="1600" dirty="0"/>
          </a:p>
        </p:txBody>
      </p:sp>
      <p:sp>
        <p:nvSpPr>
          <p:cNvPr id="23" name="Rectangle 22">
            <a:extLst>
              <a:ext uri="{FF2B5EF4-FFF2-40B4-BE49-F238E27FC236}">
                <a16:creationId xmlns="" xmlns:a16="http://schemas.microsoft.com/office/drawing/2014/main" id="{7004738A-9D34-43E8-97D2-CA0EED4F8BE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 xmlns:a16="http://schemas.microsoft.com/office/drawing/2014/main" id="{B8B8D07F-F13E-443E-BA68-2D26672D76B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 xmlns:a16="http://schemas.microsoft.com/office/drawing/2014/main" id="{2813A4FA-24A5-41ED-A534-3807D1B2F34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 xmlns:a16="http://schemas.microsoft.com/office/drawing/2014/main" id="{C3944F27-CA70-4E84-A51A-E6BF8955897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p:nvPr/>
        </p:nvPicPr>
        <p:blipFill>
          <a:blip r:embed="rId2"/>
          <a:srcRect t="7078" r="20751" b="10502"/>
          <a:stretch>
            <a:fillRect/>
          </a:stretch>
        </p:blipFill>
        <p:spPr bwMode="auto">
          <a:xfrm>
            <a:off x="4139952" y="2041330"/>
            <a:ext cx="4744068" cy="2775314"/>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a:bodyPr>
          <a:lstStyle/>
          <a:p>
            <a:pPr>
              <a:buNone/>
            </a:pPr>
            <a:r>
              <a:rPr lang="en-US" sz="2400" b="1" dirty="0"/>
              <a:t>Question 3c:</a:t>
            </a:r>
            <a:endParaRPr lang="en-GB" sz="2400" dirty="0"/>
          </a:p>
          <a:p>
            <a:r>
              <a:rPr lang="en-US" sz="1800" dirty="0"/>
              <a:t>Live demo. Log into the </a:t>
            </a:r>
            <a:r>
              <a:rPr lang="en-US" sz="1800" dirty="0" err="1"/>
              <a:t>owaspbwa</a:t>
            </a:r>
            <a:r>
              <a:rPr lang="en-US" sz="1800" dirty="0"/>
              <a:t> data base, specifically the DVWA.</a:t>
            </a:r>
            <a:endParaRPr lang="en-GB" sz="1800" dirty="0"/>
          </a:p>
          <a:p>
            <a:r>
              <a:rPr lang="en-US" sz="1800" dirty="0"/>
              <a:t>Create a new user; hash the new password and use the new user to log into the system.</a:t>
            </a:r>
          </a:p>
          <a:p>
            <a:pPr>
              <a:buNone/>
            </a:pPr>
            <a:r>
              <a:rPr lang="en-US" sz="2400" b="1" dirty="0"/>
              <a:t>Answer:</a:t>
            </a:r>
            <a:endParaRPr lang="en-GB" sz="1800" dirty="0"/>
          </a:p>
        </p:txBody>
      </p:sp>
      <p:pic>
        <p:nvPicPr>
          <p:cNvPr id="4" name="Picture 3"/>
          <p:cNvPicPr/>
          <p:nvPr/>
        </p:nvPicPr>
        <p:blipFill>
          <a:blip r:embed="rId2"/>
          <a:srcRect l="15164" t="16958" r="37155" b="19401"/>
          <a:stretch>
            <a:fillRect/>
          </a:stretch>
        </p:blipFill>
        <p:spPr bwMode="auto">
          <a:xfrm>
            <a:off x="1500166" y="2786058"/>
            <a:ext cx="5715040" cy="339147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02EBFA83-D4DB-4CA0-B229-9E44634D7FE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6" name="Rectangle 15">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p:cNvPicPr/>
          <p:nvPr/>
        </p:nvPicPr>
        <p:blipFill>
          <a:blip r:embed="rId3"/>
          <a:srcRect t="5508" r="21354" b="9958"/>
          <a:stretch>
            <a:fillRect/>
          </a:stretch>
        </p:blipFill>
        <p:spPr bwMode="auto">
          <a:xfrm>
            <a:off x="2411760" y="2189163"/>
            <a:ext cx="4101260" cy="2479674"/>
          </a:xfrm>
          <a:prstGeom prst="rect">
            <a:avLst/>
          </a:prstGeom>
          <a:noFill/>
        </p:spPr>
      </p:pic>
      <p:sp>
        <p:nvSpPr>
          <p:cNvPr id="3" name="Content Placeholder 2"/>
          <p:cNvSpPr>
            <a:spLocks noGrp="1"/>
          </p:cNvSpPr>
          <p:nvPr>
            <p:ph idx="1"/>
          </p:nvPr>
        </p:nvSpPr>
        <p:spPr>
          <a:xfrm>
            <a:off x="4947762" y="2965592"/>
            <a:ext cx="3441996" cy="2987397"/>
          </a:xfrm>
        </p:spPr>
        <p:txBody>
          <a:bodyPr>
            <a:normAutofit/>
          </a:bodyPr>
          <a:lstStyle/>
          <a:p>
            <a:endParaRPr lang="en-US" sz="1600"/>
          </a:p>
          <a:p>
            <a:endParaRPr lang="en-US" sz="1600"/>
          </a:p>
          <a:p>
            <a:endParaRPr lang="en-GB"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6121B454-D9CC-4D9A-BB90-D0243B5273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F79C704-FD27-4BBA-A751-4A80EDB173B8}"/>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1A8FFABF-F1A6-4C80-A0A6-29F3162FEFF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D156AB4D-50E1-494A-A1FF-2E40CFD54D5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14885" y="707900"/>
            <a:ext cx="8389447" cy="5400168"/>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4" name="Picture 3"/>
          <p:cNvPicPr/>
          <p:nvPr/>
        </p:nvPicPr>
        <p:blipFill>
          <a:blip r:embed="rId3"/>
          <a:srcRect t="4873" r="21828" b="10972"/>
          <a:stretch>
            <a:fillRect/>
          </a:stretch>
        </p:blipFill>
        <p:spPr bwMode="auto">
          <a:xfrm>
            <a:off x="2267957" y="2076088"/>
            <a:ext cx="4468365" cy="2705824"/>
          </a:xfrm>
          <a:prstGeom prst="rect">
            <a:avLst/>
          </a:prstGeom>
          <a:noFill/>
        </p:spPr>
      </p:pic>
      <p:sp>
        <p:nvSpPr>
          <p:cNvPr id="3" name="Content Placeholder 2"/>
          <p:cNvSpPr>
            <a:spLocks noGrp="1"/>
          </p:cNvSpPr>
          <p:nvPr>
            <p:ph idx="1"/>
          </p:nvPr>
        </p:nvSpPr>
        <p:spPr>
          <a:xfrm>
            <a:off x="4641861" y="4051039"/>
            <a:ext cx="3995628" cy="1843279"/>
          </a:xfrm>
        </p:spPr>
        <p:txBody>
          <a:bodyPr anchor="ctr">
            <a:normAutofit/>
          </a:bodyPr>
          <a:lstStyle/>
          <a:p>
            <a:endParaRPr lang="en-US" sz="1600"/>
          </a:p>
          <a:p>
            <a:endParaRPr lang="en-US" sz="1600"/>
          </a:p>
          <a:p>
            <a:endParaRPr lang="en-GB"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BE149CDF-5DAC-4860-A285-9492CF2090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Content Placeholder 2"/>
          <p:cNvSpPr>
            <a:spLocks noGrp="1"/>
          </p:cNvSpPr>
          <p:nvPr>
            <p:ph idx="1"/>
          </p:nvPr>
        </p:nvSpPr>
        <p:spPr>
          <a:xfrm>
            <a:off x="893974" y="2965592"/>
            <a:ext cx="2722166" cy="2987397"/>
          </a:xfrm>
        </p:spPr>
        <p:txBody>
          <a:bodyPr>
            <a:normAutofit/>
          </a:bodyPr>
          <a:lstStyle/>
          <a:p>
            <a:endParaRPr lang="en-US" sz="1600"/>
          </a:p>
          <a:p>
            <a:endParaRPr lang="en-US" sz="1600"/>
          </a:p>
          <a:p>
            <a:endParaRPr lang="en-GB" sz="1600"/>
          </a:p>
        </p:txBody>
      </p:sp>
      <p:pic>
        <p:nvPicPr>
          <p:cNvPr id="4" name="Picture 3"/>
          <p:cNvPicPr/>
          <p:nvPr/>
        </p:nvPicPr>
        <p:blipFill>
          <a:blip r:embed="rId3"/>
          <a:srcRect t="4449" r="21113" b="10548"/>
          <a:stretch>
            <a:fillRect/>
          </a:stretch>
        </p:blipFill>
        <p:spPr bwMode="auto">
          <a:xfrm>
            <a:off x="2195736" y="1940511"/>
            <a:ext cx="4580374" cy="277621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BE149CDF-5DAC-4860-A285-9492CF2090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Content Placeholder 2"/>
          <p:cNvSpPr>
            <a:spLocks noGrp="1"/>
          </p:cNvSpPr>
          <p:nvPr>
            <p:ph idx="1"/>
          </p:nvPr>
        </p:nvSpPr>
        <p:spPr>
          <a:xfrm>
            <a:off x="893974" y="2965592"/>
            <a:ext cx="2722166" cy="2987397"/>
          </a:xfrm>
        </p:spPr>
        <p:txBody>
          <a:bodyPr>
            <a:normAutofit/>
          </a:bodyPr>
          <a:lstStyle/>
          <a:p>
            <a:endParaRPr lang="en-US" sz="1600"/>
          </a:p>
          <a:p>
            <a:endParaRPr lang="en-US" sz="1600"/>
          </a:p>
          <a:p>
            <a:endParaRPr lang="en-GB" sz="1600"/>
          </a:p>
        </p:txBody>
      </p:sp>
      <p:pic>
        <p:nvPicPr>
          <p:cNvPr id="4" name="Picture 3"/>
          <p:cNvPicPr/>
          <p:nvPr/>
        </p:nvPicPr>
        <p:blipFill>
          <a:blip r:embed="rId3"/>
          <a:srcRect t="4661" r="21113" b="9912"/>
          <a:stretch>
            <a:fillRect/>
          </a:stretch>
        </p:blipFill>
        <p:spPr bwMode="auto">
          <a:xfrm>
            <a:off x="2287025" y="1943740"/>
            <a:ext cx="4580374" cy="2790057"/>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p:cNvPicPr>
            <a:picLocks noGrp="1" noChangeAspect="1" noChangeArrowheads="1"/>
          </p:cNvPicPr>
          <p:nvPr>
            <p:ph idx="1"/>
          </p:nvPr>
        </p:nvPicPr>
        <p:blipFill>
          <a:blip r:embed="rId2"/>
          <a:srcRect/>
          <a:stretch>
            <a:fillRect/>
          </a:stretch>
        </p:blipFill>
        <p:spPr bwMode="auto">
          <a:xfrm>
            <a:off x="546957" y="1600200"/>
            <a:ext cx="8050085" cy="4525963"/>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BE149CDF-5DAC-4860-A285-9492CF2090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p:cNvSpPr>
            <a:spLocks noGrp="1"/>
          </p:cNvSpPr>
          <p:nvPr>
            <p:ph type="title"/>
          </p:nvPr>
        </p:nvSpPr>
        <p:spPr>
          <a:xfrm>
            <a:off x="893974" y="905011"/>
            <a:ext cx="2722166" cy="1889135"/>
          </a:xfrm>
        </p:spPr>
        <p:txBody>
          <a:bodyPr anchor="b">
            <a:normAutofit/>
          </a:bodyPr>
          <a:lstStyle/>
          <a:p>
            <a:r>
              <a:rPr lang="en-US" sz="1700" dirty="0" smtClean="0"/>
              <a:t>This shows that the information was added successfully.</a:t>
            </a:r>
            <a:endParaRPr lang="en-GB" sz="1700" dirty="0"/>
          </a:p>
        </p:txBody>
      </p:sp>
      <p:sp>
        <p:nvSpPr>
          <p:cNvPr id="3" name="Content Placeholder 2"/>
          <p:cNvSpPr>
            <a:spLocks noGrp="1"/>
          </p:cNvSpPr>
          <p:nvPr>
            <p:ph idx="1"/>
          </p:nvPr>
        </p:nvSpPr>
        <p:spPr>
          <a:xfrm>
            <a:off x="893974" y="2965592"/>
            <a:ext cx="2722166" cy="2987397"/>
          </a:xfrm>
        </p:spPr>
        <p:txBody>
          <a:bodyPr>
            <a:normAutofit/>
          </a:bodyPr>
          <a:lstStyle/>
          <a:p>
            <a:endParaRPr lang="en-US" sz="1600"/>
          </a:p>
          <a:p>
            <a:endParaRPr lang="en-US" sz="1600"/>
          </a:p>
          <a:p>
            <a:endParaRPr lang="en-GB" sz="1600"/>
          </a:p>
        </p:txBody>
      </p:sp>
      <p:pic>
        <p:nvPicPr>
          <p:cNvPr id="4" name="Picture 3"/>
          <p:cNvPicPr/>
          <p:nvPr/>
        </p:nvPicPr>
        <p:blipFill>
          <a:blip r:embed="rId3"/>
          <a:srcRect t="5297" r="21471" b="10125"/>
          <a:stretch>
            <a:fillRect/>
          </a:stretch>
        </p:blipFill>
        <p:spPr bwMode="auto">
          <a:xfrm>
            <a:off x="3882093" y="2331029"/>
            <a:ext cx="4580374" cy="2774922"/>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BE149CDF-5DAC-4860-A285-9492CF2090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Content Placeholder 2"/>
          <p:cNvSpPr>
            <a:spLocks noGrp="1"/>
          </p:cNvSpPr>
          <p:nvPr>
            <p:ph idx="1"/>
          </p:nvPr>
        </p:nvSpPr>
        <p:spPr>
          <a:xfrm>
            <a:off x="893974" y="2965592"/>
            <a:ext cx="2722166" cy="2987397"/>
          </a:xfrm>
        </p:spPr>
        <p:txBody>
          <a:bodyPr>
            <a:normAutofit/>
          </a:bodyPr>
          <a:lstStyle/>
          <a:p>
            <a:endParaRPr lang="en-US" sz="1600"/>
          </a:p>
          <a:p>
            <a:endParaRPr lang="en-US" sz="1600"/>
          </a:p>
          <a:p>
            <a:endParaRPr lang="en-GB" sz="1600"/>
          </a:p>
        </p:txBody>
      </p:sp>
      <p:pic>
        <p:nvPicPr>
          <p:cNvPr id="4" name="Picture 3"/>
          <p:cNvPicPr/>
          <p:nvPr/>
        </p:nvPicPr>
        <p:blipFill>
          <a:blip r:embed="rId3"/>
          <a:srcRect t="5508" r="21470" b="8429"/>
          <a:stretch>
            <a:fillRect/>
          </a:stretch>
        </p:blipFill>
        <p:spPr bwMode="auto">
          <a:xfrm>
            <a:off x="2275976" y="1924270"/>
            <a:ext cx="4580374" cy="2823608"/>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0D7B6173-1D58-48E2-83CF-37350F315F7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02EBFA83-D4DB-4CA0-B229-9E44634D7FE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 xmlns:a16="http://schemas.microsoft.com/office/drawing/2014/main" id="{B0DAC8FB-A162-44E3-A606-C855A03A5B0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 xmlns:a14="http://schemas.microsoft.com/office/drawing/2010/main" val="0"/>
              </a:ext>
            </a:extLst>
          </a:blip>
          <a:stretch>
            <a:fillRect/>
          </a:stretch>
        </p:blipFill>
        <p:spPr>
          <a:xfrm>
            <a:off x="0" y="0"/>
            <a:ext cx="9141714" cy="6862380"/>
          </a:xfrm>
          <a:prstGeom prst="rect">
            <a:avLst/>
          </a:prstGeom>
        </p:spPr>
      </p:pic>
      <p:sp>
        <p:nvSpPr>
          <p:cNvPr id="15" name="Rectangle 14">
            <a:extLst>
              <a:ext uri="{FF2B5EF4-FFF2-40B4-BE49-F238E27FC236}">
                <a16:creationId xmlns="" xmlns:a16="http://schemas.microsoft.com/office/drawing/2014/main" id="{21BDEC81-16A7-4451-B893-C15000083B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 xmlns:a16="http://schemas.microsoft.com/office/drawing/2014/main" id="{26A515A1-4D80-430E-BE0A-71A290516A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4" name="Picture 3"/>
          <p:cNvPicPr/>
          <p:nvPr/>
        </p:nvPicPr>
        <p:blipFill>
          <a:blip r:embed="rId3"/>
          <a:srcRect t="6780" r="20788" b="555"/>
          <a:stretch>
            <a:fillRect/>
          </a:stretch>
        </p:blipFill>
        <p:spPr bwMode="auto">
          <a:xfrm>
            <a:off x="1979712" y="1735877"/>
            <a:ext cx="4705460" cy="3096344"/>
          </a:xfrm>
          <a:prstGeom prst="rect">
            <a:avLst/>
          </a:prstGeom>
          <a:noFill/>
        </p:spPr>
      </p:pic>
      <p:sp>
        <p:nvSpPr>
          <p:cNvPr id="3" name="Content Placeholder 2"/>
          <p:cNvSpPr>
            <a:spLocks noGrp="1"/>
          </p:cNvSpPr>
          <p:nvPr>
            <p:ph idx="1"/>
          </p:nvPr>
        </p:nvSpPr>
        <p:spPr>
          <a:xfrm>
            <a:off x="4947762" y="2965592"/>
            <a:ext cx="3441996" cy="2987397"/>
          </a:xfrm>
        </p:spPr>
        <p:txBody>
          <a:bodyPr>
            <a:normAutofit/>
          </a:bodyPr>
          <a:lstStyle/>
          <a:p>
            <a:endParaRPr lang="en-US" sz="1600"/>
          </a:p>
          <a:p>
            <a:endParaRPr lang="en-US" sz="1600"/>
          </a:p>
          <a:p>
            <a:endParaRPr lang="en-GB" sz="1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a:p>
            <a:endParaRPr lang="en-GB" dirty="0"/>
          </a:p>
        </p:txBody>
      </p:sp>
      <p:pic>
        <p:nvPicPr>
          <p:cNvPr id="4" name="Picture 3"/>
          <p:cNvPicPr/>
          <p:nvPr/>
        </p:nvPicPr>
        <p:blipFill>
          <a:blip r:embed="rId2"/>
          <a:srcRect t="3602" r="20897"/>
          <a:stretch>
            <a:fillRect/>
          </a:stretch>
        </p:blipFill>
        <p:spPr bwMode="auto">
          <a:xfrm>
            <a:off x="1285852" y="1285860"/>
            <a:ext cx="6500858" cy="4338516"/>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88e9b00-ffd0-458e-bfa1-acf4c596d3cb}" enabled="0" method="" siteId="{088e9b00-ffd0-458e-bfa1-acf4c596d3cb}" removed="1"/>
</clbl:labelList>
</file>

<file path=docProps/app.xml><?xml version="1.0" encoding="utf-8"?>
<Properties xmlns="http://schemas.openxmlformats.org/officeDocument/2006/extended-properties" xmlns:vt="http://schemas.openxmlformats.org/officeDocument/2006/docPropsVTypes">
  <Template/>
  <TotalTime>1222</TotalTime>
  <Words>1745</Words>
  <Application>Microsoft Office PowerPoint</Application>
  <PresentationFormat>On-screen Show (4:3)</PresentationFormat>
  <Paragraphs>273</Paragraphs>
  <Slides>64</Slides>
  <Notes>1</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CYBER SECURITY PROJECT</vt:lpstr>
      <vt:lpstr> Table of Contents</vt:lpstr>
      <vt:lpstr>Slide 3</vt:lpstr>
      <vt:lpstr>Slide 4</vt:lpstr>
      <vt:lpstr>Question 1</vt:lpstr>
      <vt:lpstr>Slide 6</vt:lpstr>
      <vt:lpstr>I am going to attack this form, as a hacker , I need to get more information from here.</vt:lpstr>
      <vt:lpstr>How to know if this application is vulnerable to sql injection, I will just punch apostrophe in the form ‘ or 1’</vt:lpstr>
      <vt:lpstr>We are going to get a syntax error like what we have below the below means that the data from the field  is given to sql query without any data validation, so this gives an information to the hacker that he can  manipulate the input data and get data from the database. So we have that this application is vulnerable or inject able.</vt:lpstr>
      <vt:lpstr>Here I am going to try if the AND condition has any effect on the  output The code can be  1’and 1=1# TRUE below shows that there's no change to the output, so inputting an AND condition does not have any effect on the output. </vt:lpstr>
      <vt:lpstr>Now we are going to input a quarry to retrieve information from the database, and here we are going to include the union 1’and 1=1 union select database(), user()# </vt:lpstr>
      <vt:lpstr>We can see below that the  first name is Adam while  the surname is  Smith.</vt:lpstr>
      <vt:lpstr>I can go further to get the tables from the database. 1'and 1=1 union select null, table_name from information_schema.tables#</vt:lpstr>
      <vt:lpstr>The information_schema.tables is basically giving me the list of all the tables in the database. </vt:lpstr>
      <vt:lpstr>The last table is the users table, As a hacker I will be interested in the user table  to get  the user name and password of the users. 1'and 1=1 union select user,password from users#</vt:lpstr>
      <vt:lpstr>Slide 16</vt:lpstr>
      <vt:lpstr>Automated SQL injection</vt:lpstr>
      <vt:lpstr>Slide 18</vt:lpstr>
      <vt:lpstr>Slide 19</vt:lpstr>
      <vt:lpstr>SQL Terminal Open the sqlmap terminal, and type sqlmap –u then paste the link gotten from the website= 1 – dbs. Note: the aim is to find the name of the data base of this website and number of data base.</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Question 2a</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This shows that the information was added successfully.</vt:lpstr>
      <vt:lpstr>Slide 62</vt:lpstr>
      <vt:lpstr>Slide 63</vt:lpstr>
      <vt:lpstr>Slide 64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dc:title>
  <dc:creator>ONYEKWERE CHIDI A</dc:creator>
  <cp:lastModifiedBy>ONYEKWERE CHIDI A</cp:lastModifiedBy>
  <cp:revision>102</cp:revision>
  <dcterms:created xsi:type="dcterms:W3CDTF">2025-07-27T04:33:33Z</dcterms:created>
  <dcterms:modified xsi:type="dcterms:W3CDTF">2025-08-13T10:34:48Z</dcterms:modified>
</cp:coreProperties>
</file>